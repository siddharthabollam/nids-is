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4"/>
  </p:sldMasterIdLst>
  <p:notesMasterIdLst>
    <p:notesMasterId r:id="rId18"/>
  </p:notesMasterIdLst>
  <p:handoutMasterIdLst>
    <p:handoutMasterId r:id="rId19"/>
  </p:handoutMasterIdLst>
  <p:sldIdLst>
    <p:sldId id="272" r:id="rId5"/>
    <p:sldId id="311" r:id="rId6"/>
    <p:sldId id="258" r:id="rId7"/>
    <p:sldId id="294" r:id="rId8"/>
    <p:sldId id="295" r:id="rId9"/>
    <p:sldId id="296" r:id="rId10"/>
    <p:sldId id="273" r:id="rId11"/>
    <p:sldId id="284" r:id="rId12"/>
    <p:sldId id="312" r:id="rId13"/>
    <p:sldId id="313" r:id="rId14"/>
    <p:sldId id="314" r:id="rId15"/>
    <p:sldId id="315" r:id="rId16"/>
    <p:sldId id="29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4949"/>
    <a:srgbClr val="66CCFF"/>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0655" autoAdjust="0"/>
  </p:normalViewPr>
  <p:slideViewPr>
    <p:cSldViewPr snapToGrid="0">
      <p:cViewPr varScale="1">
        <p:scale>
          <a:sx n="83" d="100"/>
          <a:sy n="83" d="100"/>
        </p:scale>
        <p:origin x="523" y="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p:scale>
          <a:sx n="1" d="2"/>
          <a:sy n="1" d="2"/>
        </p:scale>
        <p:origin x="3403" y="48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6111111111111108E-2"/>
          <c:y val="7.0602945465150183E-2"/>
          <c:w val="0.93888888888888888"/>
          <c:h val="0.67350976961213183"/>
        </c:manualLayout>
      </c:layout>
      <c:barChart>
        <c:barDir val="col"/>
        <c:grouping val="clustered"/>
        <c:varyColors val="0"/>
        <c:ser>
          <c:idx val="0"/>
          <c:order val="0"/>
          <c:tx>
            <c:strRef>
              <c:f>Sheet1!$A$2</c:f>
              <c:strCache>
                <c:ptCount val="1"/>
                <c:pt idx="0">
                  <c:v>SVM</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Accuracy Rate (%)</c:v>
                </c:pt>
              </c:strCache>
            </c:strRef>
          </c:cat>
          <c:val>
            <c:numRef>
              <c:f>Sheet1!$B$2</c:f>
              <c:numCache>
                <c:formatCode>0.00%</c:formatCode>
                <c:ptCount val="1"/>
                <c:pt idx="0">
                  <c:v>0.98360000000000003</c:v>
                </c:pt>
              </c:numCache>
            </c:numRef>
          </c:val>
          <c:extLst>
            <c:ext xmlns:c16="http://schemas.microsoft.com/office/drawing/2014/chart" uri="{C3380CC4-5D6E-409C-BE32-E72D297353CC}">
              <c16:uniqueId val="{00000000-C62A-42E7-81B1-CA422D8FBE96}"/>
            </c:ext>
          </c:extLst>
        </c:ser>
        <c:ser>
          <c:idx val="1"/>
          <c:order val="1"/>
          <c:tx>
            <c:strRef>
              <c:f>Sheet1!$A$3</c:f>
              <c:strCache>
                <c:ptCount val="1"/>
                <c:pt idx="0">
                  <c:v>Naive Bayes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Accuracy Rate (%)</c:v>
                </c:pt>
              </c:strCache>
            </c:strRef>
          </c:cat>
          <c:val>
            <c:numRef>
              <c:f>Sheet1!$B$3</c:f>
              <c:numCache>
                <c:formatCode>0.00%</c:formatCode>
                <c:ptCount val="1"/>
                <c:pt idx="0">
                  <c:v>0.7752</c:v>
                </c:pt>
              </c:numCache>
            </c:numRef>
          </c:val>
          <c:extLst>
            <c:ext xmlns:c16="http://schemas.microsoft.com/office/drawing/2014/chart" uri="{C3380CC4-5D6E-409C-BE32-E72D297353CC}">
              <c16:uniqueId val="{00000001-C62A-42E7-81B1-CA422D8FBE96}"/>
            </c:ext>
          </c:extLst>
        </c:ser>
        <c:ser>
          <c:idx val="2"/>
          <c:order val="2"/>
          <c:tx>
            <c:strRef>
              <c:f>Sheet1!$A$4</c:f>
              <c:strCache>
                <c:ptCount val="1"/>
                <c:pt idx="0">
                  <c:v>Decision Tree</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Accuracy Rate (%)</c:v>
                </c:pt>
              </c:strCache>
            </c:strRef>
          </c:cat>
          <c:val>
            <c:numRef>
              <c:f>Sheet1!$B$4</c:f>
              <c:numCache>
                <c:formatCode>0.00%</c:formatCode>
                <c:ptCount val="1"/>
                <c:pt idx="0">
                  <c:v>0.99760000000000004</c:v>
                </c:pt>
              </c:numCache>
            </c:numRef>
          </c:val>
          <c:extLst>
            <c:ext xmlns:c16="http://schemas.microsoft.com/office/drawing/2014/chart" uri="{C3380CC4-5D6E-409C-BE32-E72D297353CC}">
              <c16:uniqueId val="{00000002-C62A-42E7-81B1-CA422D8FBE96}"/>
            </c:ext>
          </c:extLst>
        </c:ser>
        <c:ser>
          <c:idx val="3"/>
          <c:order val="3"/>
          <c:tx>
            <c:strRef>
              <c:f>Sheet1!$A$5</c:f>
              <c:strCache>
                <c:ptCount val="1"/>
                <c:pt idx="0">
                  <c:v>Random Forest</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Accuracy Rate (%)</c:v>
                </c:pt>
              </c:strCache>
            </c:strRef>
          </c:cat>
          <c:val>
            <c:numRef>
              <c:f>Sheet1!$B$5</c:f>
              <c:numCache>
                <c:formatCode>0.00%</c:formatCode>
                <c:ptCount val="1"/>
                <c:pt idx="0">
                  <c:v>0.99780000000000002</c:v>
                </c:pt>
              </c:numCache>
            </c:numRef>
          </c:val>
          <c:extLst>
            <c:ext xmlns:c16="http://schemas.microsoft.com/office/drawing/2014/chart" uri="{C3380CC4-5D6E-409C-BE32-E72D297353CC}">
              <c16:uniqueId val="{00000003-C62A-42E7-81B1-CA422D8FBE96}"/>
            </c:ext>
          </c:extLst>
        </c:ser>
        <c:ser>
          <c:idx val="4"/>
          <c:order val="4"/>
          <c:tx>
            <c:strRef>
              <c:f>Sheet1!$A$6</c:f>
              <c:strCache>
                <c:ptCount val="1"/>
                <c:pt idx="0">
                  <c:v>K-Nearest Neighbors</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Accuracy Rate (%)</c:v>
                </c:pt>
              </c:strCache>
            </c:strRef>
          </c:cat>
          <c:val>
            <c:numRef>
              <c:f>Sheet1!$B$6</c:f>
              <c:numCache>
                <c:formatCode>0.00%</c:formatCode>
                <c:ptCount val="1"/>
                <c:pt idx="0">
                  <c:v>0.99329999999999996</c:v>
                </c:pt>
              </c:numCache>
            </c:numRef>
          </c:val>
          <c:extLst>
            <c:ext xmlns:c16="http://schemas.microsoft.com/office/drawing/2014/chart" uri="{C3380CC4-5D6E-409C-BE32-E72D297353CC}">
              <c16:uniqueId val="{00000004-C62A-42E7-81B1-CA422D8FBE96}"/>
            </c:ext>
          </c:extLst>
        </c:ser>
        <c:ser>
          <c:idx val="5"/>
          <c:order val="5"/>
          <c:tx>
            <c:strRef>
              <c:f>Sheet1!$A$7</c:f>
              <c:strCache>
                <c:ptCount val="1"/>
                <c:pt idx="0">
                  <c:v>Logistic Regression</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Accuracy Rate (%)</c:v>
                </c:pt>
              </c:strCache>
            </c:strRef>
          </c:cat>
          <c:val>
            <c:numRef>
              <c:f>Sheet1!$B$7</c:f>
              <c:numCache>
                <c:formatCode>0.00%</c:formatCode>
                <c:ptCount val="1"/>
                <c:pt idx="0">
                  <c:v>0.94440000000000002</c:v>
                </c:pt>
              </c:numCache>
            </c:numRef>
          </c:val>
          <c:extLst>
            <c:ext xmlns:c16="http://schemas.microsoft.com/office/drawing/2014/chart" uri="{C3380CC4-5D6E-409C-BE32-E72D297353CC}">
              <c16:uniqueId val="{00000005-C62A-42E7-81B1-CA422D8FBE96}"/>
            </c:ext>
          </c:extLst>
        </c:ser>
        <c:dLbls>
          <c:dLblPos val="outEnd"/>
          <c:showLegendKey val="0"/>
          <c:showVal val="1"/>
          <c:showCatName val="0"/>
          <c:showSerName val="0"/>
          <c:showPercent val="0"/>
          <c:showBubbleSize val="0"/>
        </c:dLbls>
        <c:gapWidth val="219"/>
        <c:overlap val="-27"/>
        <c:axId val="1206103295"/>
        <c:axId val="1206103775"/>
      </c:barChart>
      <c:catAx>
        <c:axId val="12061032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6103775"/>
        <c:crosses val="autoZero"/>
        <c:auto val="1"/>
        <c:lblAlgn val="ctr"/>
        <c:lblOffset val="100"/>
        <c:noMultiLvlLbl val="0"/>
      </c:catAx>
      <c:valAx>
        <c:axId val="1206103775"/>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610329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Sheet1!$A$2</c:f>
              <c:strCache>
                <c:ptCount val="1"/>
                <c:pt idx="0">
                  <c:v>SVM</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Cross-Validation Mean Score (%)</c:v>
                </c:pt>
              </c:strCache>
            </c:strRef>
          </c:cat>
          <c:val>
            <c:numRef>
              <c:f>Sheet1!$B$2</c:f>
              <c:numCache>
                <c:formatCode>General</c:formatCode>
                <c:ptCount val="1"/>
                <c:pt idx="0">
                  <c:v>99.74</c:v>
                </c:pt>
              </c:numCache>
            </c:numRef>
          </c:val>
          <c:extLst>
            <c:ext xmlns:c16="http://schemas.microsoft.com/office/drawing/2014/chart" uri="{C3380CC4-5D6E-409C-BE32-E72D297353CC}">
              <c16:uniqueId val="{00000000-E4B5-4B32-90BB-481BF5D74CF7}"/>
            </c:ext>
          </c:extLst>
        </c:ser>
        <c:ser>
          <c:idx val="1"/>
          <c:order val="1"/>
          <c:tx>
            <c:strRef>
              <c:f>Sheet1!$A$3</c:f>
              <c:strCache>
                <c:ptCount val="1"/>
                <c:pt idx="0">
                  <c:v>Naive Bayes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Cross-Validation Mean Score (%)</c:v>
                </c:pt>
              </c:strCache>
            </c:strRef>
          </c:cat>
          <c:val>
            <c:numRef>
              <c:f>Sheet1!$B$3</c:f>
              <c:numCache>
                <c:formatCode>General</c:formatCode>
                <c:ptCount val="1"/>
                <c:pt idx="0">
                  <c:v>95.58</c:v>
                </c:pt>
              </c:numCache>
            </c:numRef>
          </c:val>
          <c:extLst>
            <c:ext xmlns:c16="http://schemas.microsoft.com/office/drawing/2014/chart" uri="{C3380CC4-5D6E-409C-BE32-E72D297353CC}">
              <c16:uniqueId val="{00000001-E4B5-4B32-90BB-481BF5D74CF7}"/>
            </c:ext>
          </c:extLst>
        </c:ser>
        <c:ser>
          <c:idx val="2"/>
          <c:order val="2"/>
          <c:tx>
            <c:strRef>
              <c:f>Sheet1!$A$4</c:f>
              <c:strCache>
                <c:ptCount val="1"/>
                <c:pt idx="0">
                  <c:v>Decision Tree</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Cross-Validation Mean Score (%)</c:v>
                </c:pt>
              </c:strCache>
            </c:strRef>
          </c:cat>
          <c:val>
            <c:numRef>
              <c:f>Sheet1!$B$4</c:f>
              <c:numCache>
                <c:formatCode>General</c:formatCode>
                <c:ptCount val="1"/>
                <c:pt idx="0">
                  <c:v>99.98</c:v>
                </c:pt>
              </c:numCache>
            </c:numRef>
          </c:val>
          <c:extLst>
            <c:ext xmlns:c16="http://schemas.microsoft.com/office/drawing/2014/chart" uri="{C3380CC4-5D6E-409C-BE32-E72D297353CC}">
              <c16:uniqueId val="{00000002-E4B5-4B32-90BB-481BF5D74CF7}"/>
            </c:ext>
          </c:extLst>
        </c:ser>
        <c:ser>
          <c:idx val="3"/>
          <c:order val="3"/>
          <c:tx>
            <c:strRef>
              <c:f>Sheet1!$A$5</c:f>
              <c:strCache>
                <c:ptCount val="1"/>
                <c:pt idx="0">
                  <c:v>Random Forest</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Cross-Validation Mean Score (%)</c:v>
                </c:pt>
              </c:strCache>
            </c:strRef>
          </c:cat>
          <c:val>
            <c:numRef>
              <c:f>Sheet1!$B$5</c:f>
              <c:numCache>
                <c:formatCode>General</c:formatCode>
                <c:ptCount val="1"/>
                <c:pt idx="0">
                  <c:v>99.99</c:v>
                </c:pt>
              </c:numCache>
            </c:numRef>
          </c:val>
          <c:extLst>
            <c:ext xmlns:c16="http://schemas.microsoft.com/office/drawing/2014/chart" uri="{C3380CC4-5D6E-409C-BE32-E72D297353CC}">
              <c16:uniqueId val="{00000003-E4B5-4B32-90BB-481BF5D74CF7}"/>
            </c:ext>
          </c:extLst>
        </c:ser>
        <c:ser>
          <c:idx val="4"/>
          <c:order val="4"/>
          <c:tx>
            <c:strRef>
              <c:f>Sheet1!$A$6</c:f>
              <c:strCache>
                <c:ptCount val="1"/>
                <c:pt idx="0">
                  <c:v>K-Nearest Neighbors</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Cross-Validation Mean Score (%)</c:v>
                </c:pt>
              </c:strCache>
            </c:strRef>
          </c:cat>
          <c:val>
            <c:numRef>
              <c:f>Sheet1!$B$6</c:f>
              <c:numCache>
                <c:formatCode>General</c:formatCode>
                <c:ptCount val="1"/>
                <c:pt idx="0">
                  <c:v>99.92</c:v>
                </c:pt>
              </c:numCache>
            </c:numRef>
          </c:val>
          <c:extLst>
            <c:ext xmlns:c16="http://schemas.microsoft.com/office/drawing/2014/chart" uri="{C3380CC4-5D6E-409C-BE32-E72D297353CC}">
              <c16:uniqueId val="{00000004-E4B5-4B32-90BB-481BF5D74CF7}"/>
            </c:ext>
          </c:extLst>
        </c:ser>
        <c:ser>
          <c:idx val="5"/>
          <c:order val="5"/>
          <c:tx>
            <c:strRef>
              <c:f>Sheet1!$A$7</c:f>
              <c:strCache>
                <c:ptCount val="1"/>
                <c:pt idx="0">
                  <c:v>Logistic Regression</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Cross-Validation Mean Score (%)</c:v>
                </c:pt>
              </c:strCache>
            </c:strRef>
          </c:cat>
          <c:val>
            <c:numRef>
              <c:f>Sheet1!$B$7</c:f>
              <c:numCache>
                <c:formatCode>General</c:formatCode>
                <c:ptCount val="1"/>
                <c:pt idx="0">
                  <c:v>99.5</c:v>
                </c:pt>
              </c:numCache>
            </c:numRef>
          </c:val>
          <c:extLst>
            <c:ext xmlns:c16="http://schemas.microsoft.com/office/drawing/2014/chart" uri="{C3380CC4-5D6E-409C-BE32-E72D297353CC}">
              <c16:uniqueId val="{00000005-E4B5-4B32-90BB-481BF5D74CF7}"/>
            </c:ext>
          </c:extLst>
        </c:ser>
        <c:dLbls>
          <c:dLblPos val="outEnd"/>
          <c:showLegendKey val="0"/>
          <c:showVal val="1"/>
          <c:showCatName val="0"/>
          <c:showSerName val="0"/>
          <c:showPercent val="0"/>
          <c:showBubbleSize val="0"/>
        </c:dLbls>
        <c:gapWidth val="219"/>
        <c:overlap val="-27"/>
        <c:axId val="18529168"/>
        <c:axId val="18526288"/>
      </c:barChart>
      <c:catAx>
        <c:axId val="185291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26288"/>
        <c:crosses val="autoZero"/>
        <c:auto val="1"/>
        <c:lblAlgn val="ctr"/>
        <c:lblOffset val="100"/>
        <c:noMultiLvlLbl val="0"/>
      </c:catAx>
      <c:valAx>
        <c:axId val="185262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291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4/24/2026</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4/24/2026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2289C57-55D7-40A4-A101-E74FAC7A092B}" type="slidenum">
              <a:rPr lang="en-US" smtClean="0"/>
              <a:t>7</a:t>
            </a:fld>
            <a:endParaRPr lang="en-US" dirty="0"/>
          </a:p>
        </p:txBody>
      </p:sp>
    </p:spTree>
    <p:extLst>
      <p:ext uri="{BB962C8B-B14F-4D97-AF65-F5344CB8AC3E}">
        <p14:creationId xmlns:p14="http://schemas.microsoft.com/office/powerpoint/2010/main" val="1451975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3429000"/>
            <a:ext cx="4941771" cy="2128042"/>
          </a:xfrm>
        </p:spPr>
        <p:txBody>
          <a:bodyPr anchor="b">
            <a:noAutofit/>
          </a:bodyPr>
          <a:lstStyle>
            <a:lvl1pPr algn="l">
              <a:defRPr sz="3600" spc="150" baseline="0"/>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chor="ctr" anchorCtr="0">
            <a:no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291403"/>
            <a:ext cx="2895600" cy="2054606"/>
          </a:xfrm>
        </p:spPr>
        <p:txBody>
          <a:bodyPr anchor="b">
            <a:noAutofit/>
          </a:bodyPr>
          <a:lstStyle>
            <a:lvl1pPr>
              <a:defRPr sz="2800" spc="150" baseline="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500" y="2924175"/>
            <a:ext cx="2895600" cy="2519363"/>
          </a:xfrm>
        </p:spPr>
        <p:txBody>
          <a:bodyPr>
            <a:normAutofit/>
          </a:bodyPr>
          <a:lstStyle>
            <a:lvl1pPr marL="0" indent="0">
              <a:lnSpc>
                <a:spcPct val="150000"/>
              </a:lnSpc>
              <a:buNone/>
              <a:defRPr sz="1400">
                <a:solidFill>
                  <a:schemeClr val="bg1"/>
                </a:solidFill>
              </a:defRPr>
            </a:lvl1pPr>
            <a:lvl2pPr marL="457200" indent="0">
              <a:lnSpc>
                <a:spcPct val="150000"/>
              </a:lnSpc>
              <a:buNone/>
              <a:defRPr sz="1400">
                <a:solidFill>
                  <a:schemeClr val="bg1"/>
                </a:solidFill>
              </a:defRPr>
            </a:lvl2pPr>
            <a:lvl3pPr marL="914400" indent="0">
              <a:lnSpc>
                <a:spcPct val="150000"/>
              </a:lnSpc>
              <a:buNone/>
              <a:defRPr sz="1400">
                <a:solidFill>
                  <a:schemeClr val="bg1"/>
                </a:solidFill>
              </a:defRPr>
            </a:lvl3pPr>
            <a:lvl4pPr marL="1371600" indent="0">
              <a:lnSpc>
                <a:spcPct val="150000"/>
              </a:lnSpc>
              <a:buNone/>
              <a:defRPr sz="1400">
                <a:solidFill>
                  <a:schemeClr val="bg1"/>
                </a:solidFill>
              </a:defRPr>
            </a:lvl4pPr>
            <a:lvl5pPr marL="1828800" indent="0">
              <a:lnSpc>
                <a:spcPct val="150000"/>
              </a:lnSpc>
              <a:buNone/>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a:t>20XX</a:t>
            </a:r>
            <a:endParaRPr lang="en-US" dirty="0"/>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roduction">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7A1CF8B-3479-49A3-A30E-2F2ECE962075}"/>
              </a:ext>
              <a:ext uri="{C183D7F6-B498-43B3-948B-1728B52AA6E4}">
                <adec:decorative xmlns:adec="http://schemas.microsoft.com/office/drawing/2017/decorative" val="1"/>
              </a:ext>
            </a:extLst>
          </p:cNvPr>
          <p:cNvGrpSpPr/>
          <p:nvPr userDrawn="1"/>
        </p:nvGrpSpPr>
        <p:grpSpPr>
          <a:xfrm>
            <a:off x="6953250" y="-25401"/>
            <a:ext cx="5238750" cy="6902451"/>
            <a:chOff x="6953250" y="-25401"/>
            <a:chExt cx="5238750" cy="6902451"/>
          </a:xfrm>
        </p:grpSpPr>
        <p:cxnSp>
          <p:nvCxnSpPr>
            <p:cNvPr id="14" name="Straight Connector 13">
              <a:extLst>
                <a:ext uri="{FF2B5EF4-FFF2-40B4-BE49-F238E27FC236}">
                  <a16:creationId xmlns:a16="http://schemas.microsoft.com/office/drawing/2014/main" id="{49FBD260-5143-4B12-B9F8-33E48D548909}"/>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userDrawn="1"/>
          </p:nvCxn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612949"/>
            <a:ext cx="5111750" cy="2263602"/>
          </a:xfrm>
        </p:spPr>
        <p:txBody>
          <a:bodyPr anchor="b">
            <a:no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2263602"/>
          </a:xfrm>
        </p:spPr>
        <p:txBody>
          <a:bodyPr>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11EBF9-6826-475B-8079-C11128991BAE}"/>
              </a:ext>
            </a:extLst>
          </p:cNvPr>
          <p:cNvSpPr>
            <a:spLocks noGrp="1"/>
          </p:cNvSpPr>
          <p:nvPr>
            <p:ph type="dt" sz="half" idx="10"/>
          </p:nvPr>
        </p:nvSpPr>
        <p:spPr>
          <a:xfrm>
            <a:off x="838200" y="6356350"/>
            <a:ext cx="1219200" cy="365125"/>
          </a:xfrm>
        </p:spPr>
        <p:txBody>
          <a:bodyPr/>
          <a:lstStyle>
            <a:lvl1pPr>
              <a:defRPr sz="900"/>
            </a:lvl1pPr>
          </a:lstStyle>
          <a:p>
            <a:r>
              <a:rPr lang="en-US"/>
              <a:t>20XX</a:t>
            </a:r>
            <a:endParaRPr lang="en-US" dirty="0"/>
          </a:p>
        </p:txBody>
      </p:sp>
      <p:sp>
        <p:nvSpPr>
          <p:cNvPr id="5" name="Footer Placeholder 4">
            <a:extLst>
              <a:ext uri="{FF2B5EF4-FFF2-40B4-BE49-F238E27FC236}">
                <a16:creationId xmlns:a16="http://schemas.microsoft.com/office/drawing/2014/main" id="{3FB726A3-DF54-47D2-8C3A-34FD43A19E8E}"/>
              </a:ext>
            </a:extLst>
          </p:cNvPr>
          <p:cNvSpPr>
            <a:spLocks noGrp="1"/>
          </p:cNvSpPr>
          <p:nvPr>
            <p:ph type="ftr" sz="quarter" idx="11"/>
          </p:nvPr>
        </p:nvSpPr>
        <p:spPr>
          <a:xfrm>
            <a:off x="2463800" y="6356350"/>
            <a:ext cx="3479800" cy="365125"/>
          </a:xfrm>
        </p:spPr>
        <p:txBody>
          <a:bodyPr/>
          <a:lstStyle>
            <a:lvl1pPr>
              <a:defRPr sz="900"/>
            </a:lvl1pPr>
          </a:lstStyle>
          <a:p>
            <a:r>
              <a:rPr lang="en-US" dirty="0"/>
              <a:t>PRESENTATION TITLE</a:t>
            </a:r>
          </a:p>
        </p:txBody>
      </p:sp>
      <p:sp>
        <p:nvSpPr>
          <p:cNvPr id="6" name="Slide Number Placeholder 5">
            <a:extLst>
              <a:ext uri="{FF2B5EF4-FFF2-40B4-BE49-F238E27FC236}">
                <a16:creationId xmlns:a16="http://schemas.microsoft.com/office/drawing/2014/main" id="{D0CD125A-4493-4967-9146-841D0EF3BC63}"/>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4249735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Break">
    <p:bg>
      <p:bgPr>
        <a:solidFill>
          <a:schemeClr val="tx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05D2CCB-CCFC-4A8A-ADA9-C1E4D13B968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522514"/>
            <a:ext cx="4179570" cy="3341857"/>
          </a:xfrm>
        </p:spPr>
        <p:txBody>
          <a:bodyPr anchor="b">
            <a:noAutofit/>
          </a:bodyPr>
          <a:lstStyle>
            <a:lvl1pPr algn="l">
              <a:defRPr sz="3600" spc="15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991350" y="3931859"/>
            <a:ext cx="4179570" cy="365125"/>
          </a:xfrm>
        </p:spPr>
        <p:txBody>
          <a:bodyPr anchor="ctr" anchorCtr="0">
            <a:noAutofit/>
          </a:bodyPr>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699512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111608"/>
            <a:ext cx="10515600" cy="3744912"/>
          </a:xfrm>
        </p:spPr>
        <p:txBody>
          <a:bodyPr/>
          <a:lstStyle/>
          <a:p>
            <a:r>
              <a:rPr lang="en-US" dirty="0"/>
              <a:t>Click icon to add chart</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a:t>20XX</a:t>
            </a:r>
            <a:endParaRPr lang="en-US" dirty="0"/>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485277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744913"/>
          </a:xfrm>
        </p:spPr>
        <p:txBody>
          <a:bodyPr/>
          <a:lstStyle/>
          <a:p>
            <a:r>
              <a:rPr lang="en-US" dirty="0"/>
              <a:t>Click icon to add table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a:t>20XX</a:t>
            </a:r>
            <a:endParaRPr lang="en-US" dirty="0"/>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5581650" cy="6858000"/>
          </a:xfrm>
          <a:prstGeom prst="rect">
            <a:avLst/>
          </a:prstGeom>
        </p:spPr>
      </p:pic>
      <p:cxnSp>
        <p:nvCxnSpPr>
          <p:cNvPr id="9" name="Straight Connector 8">
            <a:extLst>
              <a:ext uri="{FF2B5EF4-FFF2-40B4-BE49-F238E27FC236}">
                <a16:creationId xmlns:a16="http://schemas.microsoft.com/office/drawing/2014/main" id="{BDAC7E4E-FE06-4E90-8107-6B543E5515ED}"/>
              </a:ext>
              <a:ext uri="{C183D7F6-B498-43B3-948B-1728B52AA6E4}">
                <adec:decorative xmlns:adec="http://schemas.microsoft.com/office/drawing/2017/decorative" val="1"/>
              </a:ext>
            </a:extLst>
          </p:cNvPr>
          <p:cNvCxnSpPr/>
          <p:nvPr userDrawn="1"/>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4657724" y="2809875"/>
            <a:ext cx="6696075" cy="1909763"/>
          </a:xfrm>
        </p:spPr>
        <p:txBody>
          <a:bodyPr anchor="b">
            <a:no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10" name="Subtitle 2">
            <a:extLst>
              <a:ext uri="{FF2B5EF4-FFF2-40B4-BE49-F238E27FC236}">
                <a16:creationId xmlns:a16="http://schemas.microsoft.com/office/drawing/2014/main" id="{104828DA-5EC5-4A00-9A7B-CD9668EF24D1}"/>
              </a:ext>
            </a:extLst>
          </p:cNvPr>
          <p:cNvSpPr>
            <a:spLocks noGrp="1"/>
          </p:cNvSpPr>
          <p:nvPr>
            <p:ph type="subTitle" idx="1"/>
          </p:nvPr>
        </p:nvSpPr>
        <p:spPr>
          <a:xfrm>
            <a:off x="4657725" y="5028803"/>
            <a:ext cx="6696074" cy="365125"/>
          </a:xfrm>
        </p:spPr>
        <p:txBody>
          <a:bodyPr anchor="ctr" anchorCtr="0">
            <a:noAutofit/>
          </a:bodyPr>
          <a:lstStyle>
            <a:lvl1pPr marL="0" indent="0" algn="l">
              <a:buNone/>
              <a:defRPr sz="1600">
                <a:solidFill>
                  <a:schemeClr val="bg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 name="Date Placeholder 2">
            <a:extLst>
              <a:ext uri="{FF2B5EF4-FFF2-40B4-BE49-F238E27FC236}">
                <a16:creationId xmlns:a16="http://schemas.microsoft.com/office/drawing/2014/main" id="{D9303E9A-96BC-4283-A6E1-5948AEB119F4}"/>
              </a:ext>
            </a:extLst>
          </p:cNvPr>
          <p:cNvSpPr>
            <a:spLocks noGrp="1"/>
          </p:cNvSpPr>
          <p:nvPr>
            <p:ph type="dt" sz="half" idx="10"/>
          </p:nvPr>
        </p:nvSpPr>
        <p:spPr>
          <a:xfrm>
            <a:off x="4676774" y="6356350"/>
            <a:ext cx="1695450" cy="365125"/>
          </a:xfrm>
        </p:spPr>
        <p:txBody>
          <a:bodyPr/>
          <a:lstStyle>
            <a:lvl1pPr>
              <a:defRPr sz="900"/>
            </a:lvl1pPr>
          </a:lstStyle>
          <a:p>
            <a:r>
              <a:rPr lang="en-US"/>
              <a:t>20XX</a:t>
            </a:r>
            <a:endParaRPr lang="en-US" dirty="0"/>
          </a:p>
        </p:txBody>
      </p:sp>
      <p:sp>
        <p:nvSpPr>
          <p:cNvPr id="4" name="Footer Placeholder 3">
            <a:extLst>
              <a:ext uri="{FF2B5EF4-FFF2-40B4-BE49-F238E27FC236}">
                <a16:creationId xmlns:a16="http://schemas.microsoft.com/office/drawing/2014/main" id="{45A19C49-052B-4D3E-B227-1D787463CE96}"/>
              </a:ext>
            </a:extLst>
          </p:cNvPr>
          <p:cNvSpPr>
            <a:spLocks noGrp="1"/>
          </p:cNvSpPr>
          <p:nvPr>
            <p:ph type="ftr" sz="quarter" idx="11"/>
          </p:nvPr>
        </p:nvSpPr>
        <p:spPr>
          <a:xfrm>
            <a:off x="6743699" y="6356350"/>
            <a:ext cx="2543175" cy="365125"/>
          </a:xfrm>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4E5E724A-95F0-41B6-A77E-EDD067272C27}"/>
              </a:ext>
            </a:extLst>
          </p:cNvPr>
          <p:cNvSpPr>
            <a:spLocks noGrp="1"/>
          </p:cNvSpPr>
          <p:nvPr>
            <p:ph type="sldNum" sz="quarter" idx="12"/>
          </p:nvPr>
        </p:nvSpPr>
        <p:spPr>
          <a:xfrm>
            <a:off x="9658350" y="6356350"/>
            <a:ext cx="1695450"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203065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Slide 4 People">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3C911F2-9041-416A-B83C-F23B354E063B}"/>
              </a:ext>
              <a:ext uri="{C183D7F6-B498-43B3-948B-1728B52AA6E4}">
                <adec:decorative xmlns:adec="http://schemas.microsoft.com/office/drawing/2017/decorative" val="1"/>
              </a:ext>
            </a:extLst>
          </p:cNvPr>
          <p:cNvGrpSpPr/>
          <p:nvPr userDrawn="1"/>
        </p:nvGrpSpPr>
        <p:grpSpPr>
          <a:xfrm>
            <a:off x="7334250" y="0"/>
            <a:ext cx="4857750" cy="1724025"/>
            <a:chOff x="7334250" y="0"/>
            <a:chExt cx="4857750" cy="1724025"/>
          </a:xfrm>
        </p:grpSpPr>
        <p:cxnSp>
          <p:nvCxnSpPr>
            <p:cNvPr id="10" name="Straight Connector 9">
              <a:extLst>
                <a:ext uri="{FF2B5EF4-FFF2-40B4-BE49-F238E27FC236}">
                  <a16:creationId xmlns:a16="http://schemas.microsoft.com/office/drawing/2014/main" id="{4E4B72DA-52CB-4D39-A342-8857B4D959B2}"/>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228567" y="892177"/>
            <a:ext cx="9577983" cy="1325563"/>
          </a:xfrm>
        </p:spPr>
        <p:txBody>
          <a:bodyPr>
            <a:noAutofit/>
          </a:bodyPr>
          <a:lstStyle>
            <a:lvl1pPr algn="ctr">
              <a:defRPr lang="en-US" sz="2800" kern="1200" spc="150" baseline="0" dirty="0">
                <a:solidFill>
                  <a:schemeClr val="tx1"/>
                </a:solidFill>
                <a:latin typeface="+mj-lt"/>
                <a:ea typeface="+mj-ea"/>
                <a:cs typeface="+mj-cs"/>
              </a:defRPr>
            </a:lvl1pPr>
          </a:lstStyle>
          <a:p>
            <a:r>
              <a:rPr lang="en-US" dirty="0"/>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ctr">
              <a:spcBef>
                <a:spcPts val="0"/>
              </a:spcBef>
              <a:buNone/>
              <a:defRPr sz="1400"/>
            </a:lvl1pPr>
          </a:lstStyle>
          <a:p>
            <a:r>
              <a:rPr lang="en-US" dirty="0"/>
              <a:t>Click icon to add picture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28568" y="5084524"/>
            <a:ext cx="2317707"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660747"/>
          </a:xfrm>
        </p:spPr>
        <p:txBody>
          <a:bodyPr anchor="t">
            <a:norm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ctr">
              <a:spcBef>
                <a:spcPts val="0"/>
              </a:spcBef>
              <a:buNone/>
              <a:defRPr sz="1400"/>
            </a:lvl1pPr>
          </a:lstStyle>
          <a:p>
            <a:r>
              <a:rPr lang="en-US" dirty="0"/>
              <a:t>Click icon to add picture</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578300" y="5084524"/>
            <a:ext cx="2330816"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660747"/>
          </a:xfrm>
        </p:spPr>
        <p:txBody>
          <a:bodyPr anchor="t">
            <a:norm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2pPr marL="0" indent="0" algn="ctr">
              <a:spcBef>
                <a:spcPts val="0"/>
              </a:spcBef>
              <a:buNone/>
              <a:defRPr sz="1400"/>
            </a:lvl2pPr>
          </a:lstStyle>
          <a:p>
            <a:pPr lvl="1"/>
            <a:r>
              <a:rPr lang="en-US" dirty="0"/>
              <a:t>Click icon to add picture</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068964" y="5084524"/>
            <a:ext cx="2317707"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660747"/>
          </a:xfrm>
        </p:spPr>
        <p:txBody>
          <a:bodyPr anchor="t">
            <a:norm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ctr">
              <a:spcBef>
                <a:spcPts val="0"/>
              </a:spcBef>
              <a:buNone/>
              <a:defRPr sz="1400"/>
            </a:lvl1pPr>
          </a:lstStyle>
          <a:p>
            <a:r>
              <a:rPr lang="en-US" dirty="0"/>
              <a:t>Click icon to add picture</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488845" y="5084524"/>
            <a:ext cx="2317706"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660747"/>
          </a:xfrm>
        </p:spPr>
        <p:txBody>
          <a:bodyPr anchor="t">
            <a:norm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a:t>20XX</a:t>
            </a:r>
            <a:endParaRPr lang="en-US" dirty="0"/>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95122785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Slide 8 People">
    <p:bg>
      <p:bgPr>
        <a:solidFill>
          <a:schemeClr val="bg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87AAB93-862D-455E-9E73-3D0DAEFDEDB4}"/>
              </a:ext>
              <a:ext uri="{C183D7F6-B498-43B3-948B-1728B52AA6E4}">
                <adec:decorative xmlns:adec="http://schemas.microsoft.com/office/drawing/2017/decorative" val="1"/>
              </a:ext>
            </a:extLst>
          </p:cNvPr>
          <p:cNvGrpSpPr/>
          <p:nvPr userDrawn="1"/>
        </p:nvGrpSpPr>
        <p:grpSpPr>
          <a:xfrm>
            <a:off x="0" y="473953"/>
            <a:ext cx="12192000" cy="5621336"/>
            <a:chOff x="0" y="473953"/>
            <a:chExt cx="12192000" cy="5621336"/>
          </a:xfrm>
        </p:grpSpPr>
        <p:pic>
          <p:nvPicPr>
            <p:cNvPr id="13" name="Graphic 12">
              <a:extLst>
                <a:ext uri="{FF2B5EF4-FFF2-40B4-BE49-F238E27FC236}">
                  <a16:creationId xmlns:a16="http://schemas.microsoft.com/office/drawing/2014/main" id="{B0DFD584-E5CF-41EF-B51E-679CE22DDF9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grpSp>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500168" y="892177"/>
            <a:ext cx="9088438" cy="1135899"/>
          </a:xfrm>
        </p:spPr>
        <p:txBody>
          <a:bodyPr>
            <a:no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gn="ctr">
              <a:lnSpc>
                <a:spcPct val="100000"/>
              </a:lnSpc>
              <a:buFont typeface="Arial" panose="020B0604020202020204" pitchFamily="34" charset="0"/>
              <a:buNone/>
              <a:defRPr sz="900">
                <a:solidFill>
                  <a:sysClr val="windowText" lastClr="000000"/>
                </a:solidFill>
              </a:defRPr>
            </a:lvl1pPr>
          </a:lstStyle>
          <a:p>
            <a:r>
              <a:rPr lang="en-US" dirty="0"/>
              <a:t>Click icon to add picture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570485"/>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500168" y="3779603"/>
            <a:ext cx="1828800"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dirty="0"/>
              <a:t>Click icon to add picture</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570485"/>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49262" y="3779603"/>
            <a:ext cx="1828800"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32" name="Picture Placeholder 10">
            <a:extLst>
              <a:ext uri="{FF2B5EF4-FFF2-40B4-BE49-F238E27FC236}">
                <a16:creationId xmlns:a16="http://schemas.microsoft.com/office/drawing/2014/main" id="{1938DB4D-239F-4E8E-8802-0470B0131189}"/>
              </a:ext>
            </a:extLst>
          </p:cNvPr>
          <p:cNvSpPr>
            <a:spLocks noGrp="1"/>
          </p:cNvSpPr>
          <p:nvPr>
            <p:ph type="pic" sz="quarter" idx="37"/>
          </p:nvPr>
        </p:nvSpPr>
        <p:spPr>
          <a:xfrm>
            <a:off x="6655584" y="2428875"/>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dirty="0"/>
              <a:t>Click icon to add picture</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98355" y="3570485"/>
            <a:ext cx="2105135"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095999" y="3779603"/>
            <a:ext cx="2299855"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dirty="0"/>
              <a:t>Click icon to add picture</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570485"/>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4480" y="3779603"/>
            <a:ext cx="1844126"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dirty="0"/>
              <a:t>Click icon to add picture</a:t>
            </a:r>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429321"/>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500168" y="5638439"/>
            <a:ext cx="1828800"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dirty="0"/>
              <a:t>Click icon to add picture</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429321"/>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849262" y="5638439"/>
            <a:ext cx="1828800"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3" name="Picture Placeholder 10">
            <a:extLst>
              <a:ext uri="{FF2B5EF4-FFF2-40B4-BE49-F238E27FC236}">
                <a16:creationId xmlns:a16="http://schemas.microsoft.com/office/drawing/2014/main" id="{E029C5CA-EDDA-4BF9-9051-8B09E98EE1E2}"/>
              </a:ext>
            </a:extLst>
          </p:cNvPr>
          <p:cNvSpPr>
            <a:spLocks noGrp="1"/>
          </p:cNvSpPr>
          <p:nvPr>
            <p:ph type="pic" sz="quarter" idx="38"/>
          </p:nvPr>
        </p:nvSpPr>
        <p:spPr>
          <a:xfrm>
            <a:off x="6655584" y="4287711"/>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dirty="0"/>
              <a:t>Click icon to add picture</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429321"/>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339926" y="5638439"/>
            <a:ext cx="1813474"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dirty="0"/>
              <a:t>Click icon to add picture</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429321"/>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744480" y="5638439"/>
            <a:ext cx="1844126"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a:t>20XX</a:t>
            </a:r>
            <a:endParaRPr lang="en-US" dirty="0"/>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5712064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786F69D-D4FA-4075-A7EC-8D31A184F630}"/>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0" name="Straight Connector 9">
              <a:extLst>
                <a:ext uri="{FF2B5EF4-FFF2-40B4-BE49-F238E27FC236}">
                  <a16:creationId xmlns:a16="http://schemas.microsoft.com/office/drawing/2014/main" id="{66988B2D-0240-4256-8268-4B9FF1E72363}"/>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Autofit/>
          </a:bodyPr>
          <a:lstStyle>
            <a:lvl1pPr algn="ctr">
              <a:defRPr lang="en-US" sz="2800" kern="1200" spc="150" baseline="0" dirty="0">
                <a:solidFill>
                  <a:schemeClr val="tx1"/>
                </a:solidFill>
                <a:latin typeface="+mj-lt"/>
                <a:ea typeface="+mj-ea"/>
                <a:cs typeface="+mj-cs"/>
              </a:defRPr>
            </a:lvl1pPr>
          </a:lstStyle>
          <a:p>
            <a:r>
              <a:rPr lang="en-US" dirty="0"/>
              <a:t>CLICK TO EDIT MASTER TITLE STYLE</a:t>
            </a:r>
          </a:p>
        </p:txBody>
      </p:sp>
      <p:sp>
        <p:nvSpPr>
          <p:cNvPr id="7" name="SmartArt Placeholder 6">
            <a:extLst>
              <a:ext uri="{FF2B5EF4-FFF2-40B4-BE49-F238E27FC236}">
                <a16:creationId xmlns:a16="http://schemas.microsoft.com/office/drawing/2014/main" id="{156CA116-0F6E-4EE9-B34F-03BA07161A7A}"/>
              </a:ext>
            </a:extLst>
          </p:cNvPr>
          <p:cNvSpPr>
            <a:spLocks noGrp="1"/>
          </p:cNvSpPr>
          <p:nvPr>
            <p:ph type="dgm" sz="quarter" idx="15"/>
          </p:nvPr>
        </p:nvSpPr>
        <p:spPr>
          <a:xfrm>
            <a:off x="838200" y="2111375"/>
            <a:ext cx="10515600" cy="3744913"/>
          </a:xfrm>
        </p:spPr>
        <p:txBody>
          <a:bodyPr/>
          <a:lstStyle/>
          <a:p>
            <a:r>
              <a:rPr lang="en-US" dirty="0"/>
              <a:t>Click icon to add SmartArt graphic</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a:t>20XX</a:t>
            </a:r>
            <a:endParaRPr lang="en-US" dirty="0"/>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6831155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272533"/>
            <a:ext cx="4296508" cy="953298"/>
          </a:xfrm>
        </p:spPr>
        <p:txBody>
          <a:bodyPr>
            <a:noAutofit/>
          </a:bodyPr>
          <a:lstStyle>
            <a:lvl1pPr>
              <a:defRPr lang="en-US" sz="2800" kern="1200" spc="150" baseline="0" dirty="0">
                <a:solidFill>
                  <a:schemeClr val="tx1"/>
                </a:solidFill>
                <a:latin typeface="+mj-lt"/>
                <a:ea typeface="+mj-ea"/>
                <a:cs typeface="+mj-cs"/>
              </a:defRPr>
            </a:lvl1pPr>
          </a:lstStyle>
          <a:p>
            <a:r>
              <a:rPr lang="en-US" dirty="0"/>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p:nvPr>
        </p:nvSpPr>
        <p:spPr>
          <a:xfrm>
            <a:off x="306751" y="1507772"/>
            <a:ext cx="2141764" cy="514350"/>
          </a:xfrm>
        </p:spPr>
        <p:txBody>
          <a:bodyPr anchor="ctr">
            <a:noAutofit/>
          </a:bodyPr>
          <a:lstStyle>
            <a:lvl1pPr marL="0" indent="0" algn="r">
              <a:buNone/>
              <a:defRPr sz="2000"/>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p:nvPr>
        </p:nvSpPr>
        <p:spPr>
          <a:xfrm>
            <a:off x="872808" y="2584097"/>
            <a:ext cx="2141764" cy="514350"/>
          </a:xfrm>
        </p:spPr>
        <p:txBody>
          <a:bodyPr anchor="ctr">
            <a:noAutofit/>
          </a:bodyPr>
          <a:lstStyle>
            <a:lvl1pPr marL="0" indent="0" algn="r">
              <a:buNone/>
              <a:defRPr sz="2000"/>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p:nvPr>
        </p:nvSpPr>
        <p:spPr>
          <a:xfrm>
            <a:off x="1479233" y="3660422"/>
            <a:ext cx="2141764" cy="514350"/>
          </a:xfrm>
        </p:spPr>
        <p:txBody>
          <a:bodyPr anchor="ctr">
            <a:noAutofit/>
          </a:bodyPr>
          <a:lstStyle>
            <a:lvl1pPr marL="0" indent="0" algn="r">
              <a:buNone/>
              <a:defRPr sz="2000"/>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p:nvPr>
        </p:nvSpPr>
        <p:spPr>
          <a:xfrm>
            <a:off x="2063433" y="4736748"/>
            <a:ext cx="2141764" cy="514350"/>
          </a:xfrm>
        </p:spPr>
        <p:txBody>
          <a:bodyPr anchor="ctr">
            <a:noAutofit/>
          </a:bodyPr>
          <a:lstStyle>
            <a:lvl1pPr marL="0" indent="0" algn="r">
              <a:buNone/>
              <a:defRPr sz="2000"/>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6" y="1613528"/>
            <a:ext cx="5102680" cy="1010842"/>
          </a:xfrm>
        </p:spPr>
        <p:txBody>
          <a:bodyPr anchor="t">
            <a:normAutofit/>
          </a:bodyPr>
          <a:lstStyle>
            <a:lvl1pPr marL="0" indent="0" algn="l">
              <a:lnSpc>
                <a:spcPct val="100000"/>
              </a:lnSpc>
              <a:buNone/>
              <a:defRPr sz="1400" spc="50" baseline="0"/>
            </a:lvl1pPr>
          </a:lstStyle>
          <a:p>
            <a:pPr lvl="0"/>
            <a:r>
              <a:rPr lang="en-US" dirty="0"/>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9" y="2682564"/>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8" y="3755394"/>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80" y="4824430"/>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a:t>20XX</a:t>
            </a:r>
            <a:endParaRPr lang="en-US" dirty="0"/>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749143" y="6356350"/>
            <a:ext cx="3775981" cy="365125"/>
          </a:xfrm>
        </p:spPr>
        <p:txBody>
          <a:bodyPr/>
          <a:lstStyle>
            <a:lvl1pPr>
              <a:defRPr sz="900"/>
            </a:lvl1pPr>
          </a:lstStyle>
          <a:p>
            <a:r>
              <a:rPr lang="en-US" dirty="0"/>
              <a:t>PRESENTATION TITLE</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A49DFD55-3C28-40EF-9E31-A92D2E4017FF}" type="slidenum">
              <a:rPr lang="en-US" smtClean="0"/>
              <a:pPr/>
              <a:t>‹#›</a:t>
            </a:fld>
            <a:endParaRPr lang="en-US" dirty="0"/>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userDrawn="1"/>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userDrawn="1"/>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userDrawn="1"/>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userDrawn="1"/>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165259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EE24E1DB-1F20-4C28-8069-D9219D1F8BBD}"/>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25785" y="0"/>
            <a:ext cx="4368030"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72757"/>
            <a:ext cx="8421688" cy="1644984"/>
          </a:xfrm>
        </p:spPr>
        <p:txBody>
          <a:bodyPr>
            <a:no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883877"/>
            <a:ext cx="3924300" cy="864157"/>
          </a:xfrm>
        </p:spPr>
        <p:txBody>
          <a:bodyPr anchor="ctr" anchorCtr="0">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883877"/>
            <a:ext cx="3943627" cy="864157"/>
          </a:xfrm>
        </p:spPr>
        <p:txBody>
          <a:bodyPr anchor="ctr" anchorCtr="0">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a:t>20XX</a:t>
            </a:r>
            <a:endParaRPr lang="en-US" dirty="0"/>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432451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238250" y="522515"/>
            <a:ext cx="9710646" cy="1377306"/>
          </a:xfrm>
        </p:spPr>
        <p:txBody>
          <a:bodyPr>
            <a:no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3023393"/>
            <a:ext cx="2882475" cy="768371"/>
          </a:xfrm>
        </p:spPr>
        <p:txBody>
          <a:bodyPr anchor="ctr" anchorCtr="0">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3023393"/>
            <a:ext cx="2896671" cy="768371"/>
          </a:xfrm>
        </p:spPr>
        <p:txBody>
          <a:bodyPr anchor="ctr" anchorCtr="0">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3023393"/>
            <a:ext cx="2882475" cy="768371"/>
          </a:xfrm>
        </p:spPr>
        <p:txBody>
          <a:bodyPr anchor="ctr" anchorCtr="0">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a:t>20XX</a:t>
            </a:r>
            <a:endParaRPr lang="en-US" dirty="0"/>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grpSp>
        <p:nvGrpSpPr>
          <p:cNvPr id="10" name="Group 9">
            <a:extLst>
              <a:ext uri="{FF2B5EF4-FFF2-40B4-BE49-F238E27FC236}">
                <a16:creationId xmlns:a16="http://schemas.microsoft.com/office/drawing/2014/main" id="{B2368EF4-1233-48C7-8DB5-75844BFCD594}"/>
              </a:ext>
              <a:ext uri="{C183D7F6-B498-43B3-948B-1728B52AA6E4}">
                <adec:decorative xmlns:adec="http://schemas.microsoft.com/office/drawing/2017/decorative" val="1"/>
              </a:ext>
            </a:extLst>
          </p:cNvPr>
          <p:cNvGrpSpPr/>
          <p:nvPr userDrawn="1"/>
        </p:nvGrpSpPr>
        <p:grpSpPr>
          <a:xfrm>
            <a:off x="0" y="0"/>
            <a:ext cx="2238376" cy="3105150"/>
            <a:chOff x="0" y="0"/>
            <a:chExt cx="2238376" cy="3105150"/>
          </a:xfrm>
        </p:grpSpPr>
        <p:cxnSp>
          <p:nvCxnSpPr>
            <p:cNvPr id="16" name="Straight Connector 15">
              <a:extLst>
                <a:ext uri="{FF2B5EF4-FFF2-40B4-BE49-F238E27FC236}">
                  <a16:creationId xmlns:a16="http://schemas.microsoft.com/office/drawing/2014/main" id="{463D7850-C2A6-43CE-BBE4-8E81A0A593BF}"/>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1889671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954593"/>
            <a:ext cx="5111750" cy="1921958"/>
          </a:xfrm>
        </p:spPr>
        <p:txBody>
          <a:bodyPr anchor="b">
            <a:no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60774"/>
            <a:ext cx="5111750" cy="1921958"/>
          </a:xfrm>
        </p:spPr>
        <p:txBody>
          <a:bodyPr>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4" name="Group 3">
            <a:extLst>
              <a:ext uri="{FF2B5EF4-FFF2-40B4-BE49-F238E27FC236}">
                <a16:creationId xmlns:a16="http://schemas.microsoft.com/office/drawing/2014/main" id="{D74AA03A-263D-4B5F-B05B-7D6923A9A4D3}"/>
              </a:ext>
              <a:ext uri="{C183D7F6-B498-43B3-948B-1728B52AA6E4}">
                <adec:decorative xmlns:adec="http://schemas.microsoft.com/office/drawing/2017/decorative" val="1"/>
              </a:ext>
            </a:extLst>
          </p:cNvPr>
          <p:cNvGrpSpPr/>
          <p:nvPr userDrawn="1"/>
        </p:nvGrpSpPr>
        <p:grpSpPr>
          <a:xfrm>
            <a:off x="0" y="0"/>
            <a:ext cx="4762501" cy="5186363"/>
            <a:chOff x="0" y="0"/>
            <a:chExt cx="4762501" cy="5186363"/>
          </a:xfrm>
        </p:grpSpPr>
        <p:cxnSp>
          <p:nvCxnSpPr>
            <p:cNvPr id="23" name="Straight Connector 22">
              <a:extLst>
                <a:ext uri="{FF2B5EF4-FFF2-40B4-BE49-F238E27FC236}">
                  <a16:creationId xmlns:a16="http://schemas.microsoft.com/office/drawing/2014/main" id="{D87F08D6-2CA7-4A5A-BE34-07113DCA535D}"/>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a:t>20XX</a:t>
            </a:r>
            <a:endParaRPr lang="en-US" dirty="0"/>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PRESENTATION TITLE</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351693"/>
            <a:ext cx="4179570" cy="2453652"/>
          </a:xfrm>
        </p:spPr>
        <p:txBody>
          <a:bodyPr anchor="b">
            <a:noAutofit/>
          </a:bodyPr>
          <a:lstStyle>
            <a:lvl1pPr algn="l">
              <a:defRPr sz="3600" spc="150" baseline="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107620"/>
          </a:xfrm>
        </p:spPr>
        <p:txBody>
          <a:bodyPr>
            <a:normAutofit/>
          </a:bodyPr>
          <a:lstStyle>
            <a:lvl1pPr marL="0" indent="0" algn="l">
              <a:lnSpc>
                <a:spcPct val="150000"/>
              </a:lnSpc>
              <a:buNone/>
              <a:defRPr sz="1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a:t>20XX</a:t>
            </a:r>
            <a:endParaRPr lang="en-US" dirty="0"/>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134303"/>
            <a:ext cx="10515600" cy="1325563"/>
          </a:xfrm>
          <a:prstGeom prst="rect">
            <a:avLst/>
          </a:prstGeom>
        </p:spPr>
        <p:txBody>
          <a:bodyPr vert="horz" lIns="91440" tIns="45720" rIns="91440" bIns="45720" rtlCol="0" anchor="b"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1" r:id="rId4"/>
    <p:sldLayoutId id="2147483666" r:id="rId5"/>
    <p:sldLayoutId id="2147483667" r:id="rId6"/>
    <p:sldLayoutId id="2147483654" r:id="rId7"/>
    <p:sldLayoutId id="2147483663" r:id="rId8"/>
    <p:sldLayoutId id="2147483662" r:id="rId9"/>
    <p:sldLayoutId id="2147483668" r:id="rId10"/>
    <p:sldLayoutId id="2147483652" r:id="rId11"/>
    <p:sldLayoutId id="2147483653" r:id="rId12"/>
    <p:sldLayoutId id="2147483660" r:id="rId13"/>
    <p:sldLayoutId id="2147483664" r:id="rId14"/>
    <p:sldLayoutId id="2147483665" r:id="rId15"/>
  </p:sldLayoutIdLst>
  <p:hf hd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0032A-DDEA-8A1E-50A1-E3851570707F}"/>
              </a:ext>
            </a:extLst>
          </p:cNvPr>
          <p:cNvSpPr txBox="1"/>
          <p:nvPr/>
        </p:nvSpPr>
        <p:spPr>
          <a:xfrm>
            <a:off x="597837" y="2244060"/>
            <a:ext cx="10996323" cy="1200329"/>
          </a:xfrm>
          <a:prstGeom prst="rect">
            <a:avLst/>
          </a:prstGeom>
          <a:noFill/>
        </p:spPr>
        <p:txBody>
          <a:bodyPr wrap="square" rtlCol="0">
            <a:spAutoFit/>
          </a:bodyPr>
          <a:lstStyle/>
          <a:p>
            <a:pPr algn="ctr"/>
            <a:r>
              <a:rPr lang="en-US" sz="3600" b="1" dirty="0"/>
              <a:t>Network Intrusion Detection System using </a:t>
            </a:r>
          </a:p>
          <a:p>
            <a:pPr algn="ctr"/>
            <a:r>
              <a:rPr lang="en-US" sz="3600" b="1" dirty="0"/>
              <a:t>Machine Learning Algorithms</a:t>
            </a:r>
            <a:endParaRPr lang="en-IN" sz="3600" dirty="0"/>
          </a:p>
        </p:txBody>
      </p:sp>
      <p:sp>
        <p:nvSpPr>
          <p:cNvPr id="4" name="TextBox 3">
            <a:extLst>
              <a:ext uri="{FF2B5EF4-FFF2-40B4-BE49-F238E27FC236}">
                <a16:creationId xmlns:a16="http://schemas.microsoft.com/office/drawing/2014/main" id="{A97DF099-A07E-66C5-E92F-374E4250E85A}"/>
              </a:ext>
            </a:extLst>
          </p:cNvPr>
          <p:cNvSpPr txBox="1"/>
          <p:nvPr/>
        </p:nvSpPr>
        <p:spPr>
          <a:xfrm>
            <a:off x="1771020" y="3821312"/>
            <a:ext cx="8649958" cy="2215991"/>
          </a:xfrm>
          <a:prstGeom prst="rect">
            <a:avLst/>
          </a:prstGeom>
          <a:noFill/>
        </p:spPr>
        <p:txBody>
          <a:bodyPr wrap="square" rtlCol="0">
            <a:spAutoFit/>
          </a:bodyPr>
          <a:lstStyle/>
          <a:p>
            <a:pPr algn="ctr"/>
            <a:endParaRPr lang="en-IN" sz="2000" dirty="0"/>
          </a:p>
          <a:p>
            <a:pPr algn="ctr"/>
            <a:r>
              <a:rPr lang="en-US" sz="2000" dirty="0"/>
              <a:t>Instructor: Jingjing Yao</a:t>
            </a:r>
          </a:p>
          <a:p>
            <a:pPr algn="ctr"/>
            <a:r>
              <a:rPr lang="en-US" sz="2000" dirty="0"/>
              <a:t>Teaching Assistant: </a:t>
            </a:r>
            <a:r>
              <a:rPr lang="en-IN" sz="2000" dirty="0"/>
              <a:t>Amir Faiyaz</a:t>
            </a:r>
          </a:p>
          <a:p>
            <a:pPr algn="ctr"/>
            <a:endParaRPr lang="en-US" sz="2000" dirty="0"/>
          </a:p>
          <a:p>
            <a:pPr algn="ctr"/>
            <a:r>
              <a:rPr lang="en-US" sz="2000" dirty="0"/>
              <a:t>Siddhartha </a:t>
            </a:r>
            <a:r>
              <a:rPr lang="en-US" sz="2000" dirty="0" err="1"/>
              <a:t>Bollam</a:t>
            </a:r>
            <a:r>
              <a:rPr lang="en-US" sz="2000" dirty="0"/>
              <a:t> – R12071309</a:t>
            </a:r>
            <a:br>
              <a:rPr lang="en-US" sz="2000" dirty="0"/>
            </a:br>
            <a:r>
              <a:rPr lang="en-US" sz="2000" dirty="0"/>
              <a:t>Varshitha Chowdary Thella – R12064879</a:t>
            </a:r>
            <a:br>
              <a:rPr lang="en-US" dirty="0"/>
            </a:br>
            <a:endParaRPr lang="en-IN" dirty="0"/>
          </a:p>
        </p:txBody>
      </p:sp>
      <p:sp>
        <p:nvSpPr>
          <p:cNvPr id="3" name="TextBox 2">
            <a:extLst>
              <a:ext uri="{FF2B5EF4-FFF2-40B4-BE49-F238E27FC236}">
                <a16:creationId xmlns:a16="http://schemas.microsoft.com/office/drawing/2014/main" id="{F5660A72-79D6-F4BC-CBDA-EC3E97A0FDB3}"/>
              </a:ext>
            </a:extLst>
          </p:cNvPr>
          <p:cNvSpPr txBox="1"/>
          <p:nvPr/>
        </p:nvSpPr>
        <p:spPr>
          <a:xfrm>
            <a:off x="2784764" y="820697"/>
            <a:ext cx="6622472" cy="1200329"/>
          </a:xfrm>
          <a:prstGeom prst="rect">
            <a:avLst/>
          </a:prstGeom>
          <a:noFill/>
        </p:spPr>
        <p:txBody>
          <a:bodyPr wrap="square" rtlCol="0">
            <a:spAutoFit/>
          </a:bodyPr>
          <a:lstStyle/>
          <a:p>
            <a:pPr algn="ctr"/>
            <a:r>
              <a:rPr lang="en-US" dirty="0"/>
              <a:t>CS 5368 Intelligent Systems</a:t>
            </a:r>
          </a:p>
          <a:p>
            <a:pPr algn="ctr"/>
            <a:r>
              <a:rPr lang="en-IN" dirty="0"/>
              <a:t>Department of Computer Science </a:t>
            </a:r>
          </a:p>
          <a:p>
            <a:pPr algn="ctr"/>
            <a:r>
              <a:rPr lang="en-IN" dirty="0"/>
              <a:t>Texas Tech University</a:t>
            </a:r>
          </a:p>
          <a:p>
            <a:endParaRPr lang="en-US" dirty="0"/>
          </a:p>
        </p:txBody>
      </p:sp>
    </p:spTree>
    <p:extLst>
      <p:ext uri="{BB962C8B-B14F-4D97-AF65-F5344CB8AC3E}">
        <p14:creationId xmlns:p14="http://schemas.microsoft.com/office/powerpoint/2010/main" val="12447370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16BC1-E47E-81DB-A5CC-5AD7B0FD5A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C5E7D38-B4D0-F57A-FE8F-BD0C4E82B6BA}"/>
              </a:ext>
            </a:extLst>
          </p:cNvPr>
          <p:cNvSpPr txBox="1"/>
          <p:nvPr/>
        </p:nvSpPr>
        <p:spPr>
          <a:xfrm>
            <a:off x="844138" y="623663"/>
            <a:ext cx="6157951"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prstClr val="black"/>
                </a:solidFill>
                <a:effectLst/>
                <a:uLnTx/>
                <a:uFillTx/>
                <a:latin typeface="Tenorite"/>
                <a:ea typeface="+mn-ea"/>
                <a:cs typeface="Times New Roman" panose="02020603050405020304" pitchFamily="18" charset="0"/>
              </a:rPr>
              <a:t>Background</a:t>
            </a:r>
            <a:endParaRPr kumimoji="0" lang="en-IN" sz="2400" b="1" i="0" u="none" strike="noStrike" kern="1200" cap="none" spc="0" normalizeH="0" baseline="0" noProof="0" dirty="0">
              <a:ln>
                <a:noFill/>
              </a:ln>
              <a:solidFill>
                <a:prstClr val="black"/>
              </a:solidFill>
              <a:effectLst/>
              <a:uLnTx/>
              <a:uFillTx/>
              <a:latin typeface="Tenorite"/>
              <a:ea typeface="+mn-ea"/>
              <a:cs typeface="Times New Roman" panose="02020603050405020304" pitchFamily="18" charset="0"/>
            </a:endParaRPr>
          </a:p>
        </p:txBody>
      </p:sp>
      <p:sp>
        <p:nvSpPr>
          <p:cNvPr id="4" name="Footer Placeholder 3">
            <a:extLst>
              <a:ext uri="{FF2B5EF4-FFF2-40B4-BE49-F238E27FC236}">
                <a16:creationId xmlns:a16="http://schemas.microsoft.com/office/drawing/2014/main" id="{E533E427-95EB-8F6F-7269-55F79E22C70B}"/>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prstClr val="black">
                    <a:tint val="75000"/>
                  </a:prstClr>
                </a:solidFill>
                <a:effectLst/>
                <a:uLnTx/>
                <a:uFillTx/>
                <a:latin typeface="Tenorite"/>
                <a:ea typeface="+mn-ea"/>
                <a:cs typeface="+mn-cs"/>
              </a:rPr>
              <a:t>Texas Tech University</a:t>
            </a:r>
          </a:p>
        </p:txBody>
      </p:sp>
      <p:sp>
        <p:nvSpPr>
          <p:cNvPr id="5" name="TextBox 4">
            <a:extLst>
              <a:ext uri="{FF2B5EF4-FFF2-40B4-BE49-F238E27FC236}">
                <a16:creationId xmlns:a16="http://schemas.microsoft.com/office/drawing/2014/main" id="{E6434D48-4986-A0CE-4AB9-5E1D7E8CCE9F}"/>
              </a:ext>
            </a:extLst>
          </p:cNvPr>
          <p:cNvSpPr txBox="1"/>
          <p:nvPr/>
        </p:nvSpPr>
        <p:spPr>
          <a:xfrm>
            <a:off x="844138" y="1401147"/>
            <a:ext cx="10196945" cy="4985980"/>
          </a:xfrm>
          <a:prstGeom prst="rect">
            <a:avLst/>
          </a:prstGeom>
          <a:noFill/>
        </p:spPr>
        <p:txBody>
          <a:bodyPr wrap="square" rtlCol="0">
            <a:spAutoFit/>
          </a:bodyPr>
          <a:lstStyle/>
          <a:p>
            <a:pPr algn="just"/>
            <a:r>
              <a:rPr lang="en-US" b="1" dirty="0"/>
              <a:t>Why Network Intrusion Detection Systems Matter</a:t>
            </a:r>
          </a:p>
          <a:p>
            <a:pPr algn="just"/>
            <a:endParaRPr lang="en-US" sz="1000" b="1" dirty="0"/>
          </a:p>
          <a:p>
            <a:pPr marL="285750" indent="-285750">
              <a:buFont typeface="Arial" panose="020B0604020202020204" pitchFamily="34" charset="0"/>
              <a:buChar char="•"/>
            </a:pPr>
            <a:r>
              <a:rPr lang="en-US" dirty="0"/>
              <a:t>Global losses from cybercrime were forecast to be $8 trillion in 2023 and are expected to increase to $13.82 trillion by 2028. This extent of harm demonstrates that cyber incidents are significant organizational risks with grave financial repercussions rather than isolated technological issues.</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dirty="0"/>
              <a:t>The number of cyberattacks is likewise unrelenting, with one recorded every 39 seconds. In reality, this means that companies must function under the assumption that intrusion attempts are inevitable.</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dirty="0"/>
              <a:t>Prevention is insufficient on its own because attacks are expensive and ongoing. Therefore, early detection of harmful activity is essential for effective protection.</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dirty="0"/>
              <a:t>This function is carried out by a Network Intrusion Detection System (NIDS), which continuously analyzes network traffic, detects unusual activity, and promptly issues alarms. NIDS helps lessen the chance that an intrusion will develop into a serious breach by facilitating earlier detection and quicker action.</a:t>
            </a:r>
            <a:br>
              <a:rPr lang="en-US" dirty="0"/>
            </a:br>
            <a:br>
              <a:rPr lang="en-US" dirty="0"/>
            </a:br>
            <a:endParaRPr lang="en-US" dirty="0"/>
          </a:p>
        </p:txBody>
      </p:sp>
    </p:spTree>
    <p:extLst>
      <p:ext uri="{BB962C8B-B14F-4D97-AF65-F5344CB8AC3E}">
        <p14:creationId xmlns:p14="http://schemas.microsoft.com/office/powerpoint/2010/main" val="2935637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838200" y="285978"/>
            <a:ext cx="10515600" cy="1325563"/>
          </a:xfrm>
        </p:spPr>
        <p:txBody>
          <a:bodyPr anchor="b">
            <a:normAutofit/>
          </a:bodyPr>
          <a:lstStyle/>
          <a:p>
            <a:pPr algn="l"/>
            <a:r>
              <a:rPr lang="en-US" sz="1800" cap="none" dirty="0">
                <a:latin typeface="+mn-lt"/>
              </a:rPr>
              <a:t>Project Definition</a:t>
            </a:r>
            <a:br>
              <a:rPr lang="en-US" sz="2400" b="1" cap="none" dirty="0">
                <a:latin typeface="+mn-lt"/>
              </a:rPr>
            </a:br>
            <a:r>
              <a:rPr lang="en-US" sz="2400" b="1" cap="none" dirty="0">
                <a:latin typeface="+mn-lt"/>
              </a:rPr>
              <a:t>What is Network Intrusion Detection System ?</a:t>
            </a:r>
          </a:p>
        </p:txBody>
      </p:sp>
      <p:sp>
        <p:nvSpPr>
          <p:cNvPr id="9" name="Footer Placeholder 3">
            <a:extLst>
              <a:ext uri="{FF2B5EF4-FFF2-40B4-BE49-F238E27FC236}">
                <a16:creationId xmlns:a16="http://schemas.microsoft.com/office/drawing/2014/main" id="{AE0E5817-0ED1-A9FD-8704-EDC02F1EA45D}"/>
              </a:ext>
            </a:extLst>
          </p:cNvPr>
          <p:cNvSpPr>
            <a:spLocks noGrp="1"/>
          </p:cNvSpPr>
          <p:nvPr>
            <p:ph type="ftr" sz="quarter" idx="11"/>
          </p:nvPr>
        </p:nvSpPr>
        <p:spPr>
          <a:xfrm>
            <a:off x="4038600" y="6356350"/>
            <a:ext cx="4114800" cy="365125"/>
          </a:xfrm>
        </p:spPr>
        <p:txBody>
          <a:bodyPr/>
          <a:lstStyle/>
          <a:p>
            <a:pPr>
              <a:spcAft>
                <a:spcPts val="600"/>
              </a:spcAft>
            </a:pPr>
            <a:r>
              <a:rPr lang="en-US" dirty="0"/>
              <a:t>Texas Tech University</a:t>
            </a:r>
          </a:p>
        </p:txBody>
      </p:sp>
      <p:sp>
        <p:nvSpPr>
          <p:cNvPr id="4" name="TextBox 3">
            <a:extLst>
              <a:ext uri="{FF2B5EF4-FFF2-40B4-BE49-F238E27FC236}">
                <a16:creationId xmlns:a16="http://schemas.microsoft.com/office/drawing/2014/main" id="{3B7BD1B1-6F1B-A358-E6A1-628E60788929}"/>
              </a:ext>
            </a:extLst>
          </p:cNvPr>
          <p:cNvSpPr txBox="1"/>
          <p:nvPr/>
        </p:nvSpPr>
        <p:spPr>
          <a:xfrm>
            <a:off x="838200" y="1877860"/>
            <a:ext cx="7364963" cy="3447098"/>
          </a:xfrm>
          <a:prstGeom prst="rect">
            <a:avLst/>
          </a:prstGeom>
          <a:noFill/>
        </p:spPr>
        <p:txBody>
          <a:bodyPr wrap="square" rtlCol="0">
            <a:spAutoFit/>
          </a:bodyPr>
          <a:lstStyle/>
          <a:p>
            <a:pPr marL="285750" indent="-285750">
              <a:buFont typeface="Arial" panose="020B0604020202020204" pitchFamily="34" charset="0"/>
              <a:buChar char="•"/>
            </a:pPr>
            <a:r>
              <a:rPr lang="en-US" dirty="0"/>
              <a:t>Network Intrusion Detection System (NIDS) is a system that monitors network traffic and identifies suspicious or unauthorized activity by analyzing communication patterns within the network.</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dirty="0"/>
              <a:t>This project presents a machine learning-based framework for distinguishing normal traffic from intrusive traffic using network data. The workflow includes data preprocessing, feature extraction, and classification to prepare the data for analysis and prediction.</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dirty="0"/>
              <a:t>The project focuses on training and evaluating multiple classification models to compare their performance in intrusion detection. The objective is to identify an efficient approach that can effectively classify network behavior and support reliable attack detection.</a:t>
            </a:r>
          </a:p>
        </p:txBody>
      </p:sp>
      <p:pic>
        <p:nvPicPr>
          <p:cNvPr id="5" name="Picture 4">
            <a:extLst>
              <a:ext uri="{FF2B5EF4-FFF2-40B4-BE49-F238E27FC236}">
                <a16:creationId xmlns:a16="http://schemas.microsoft.com/office/drawing/2014/main" id="{A71D8694-201F-11BB-E1EF-DC1C33F56C8B}"/>
              </a:ext>
            </a:extLst>
          </p:cNvPr>
          <p:cNvPicPr>
            <a:picLocks noChangeAspect="1"/>
          </p:cNvPicPr>
          <p:nvPr/>
        </p:nvPicPr>
        <p:blipFill>
          <a:blip r:embed="rId2"/>
          <a:srcRect l="19957" r="7611"/>
          <a:stretch>
            <a:fillRect/>
          </a:stretch>
        </p:blipFill>
        <p:spPr>
          <a:xfrm>
            <a:off x="8733281" y="2020041"/>
            <a:ext cx="2497838" cy="3562847"/>
          </a:xfrm>
          <a:prstGeom prst="rect">
            <a:avLst/>
          </a:prstGeom>
        </p:spPr>
      </p:pic>
    </p:spTree>
    <p:extLst>
      <p:ext uri="{BB962C8B-B14F-4D97-AF65-F5344CB8AC3E}">
        <p14:creationId xmlns:p14="http://schemas.microsoft.com/office/powerpoint/2010/main" val="3571516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92196C3F-AAB9-CD6E-FC53-0331DBB172F5}"/>
              </a:ext>
            </a:extLst>
          </p:cNvPr>
          <p:cNvSpPr txBox="1"/>
          <p:nvPr/>
        </p:nvSpPr>
        <p:spPr>
          <a:xfrm>
            <a:off x="1034144" y="478571"/>
            <a:ext cx="9153939" cy="800219"/>
          </a:xfrm>
          <a:prstGeom prst="rect">
            <a:avLst/>
          </a:prstGeom>
          <a:noFill/>
        </p:spPr>
        <p:txBody>
          <a:bodyPr wrap="square" rtlCol="0">
            <a:spAutoFit/>
          </a:bodyPr>
          <a:lstStyle/>
          <a:p>
            <a:endParaRPr lang="en-IN" dirty="0"/>
          </a:p>
          <a:p>
            <a:r>
              <a:rPr lang="en-IN" sz="2800" b="1" dirty="0"/>
              <a:t>Existing System</a:t>
            </a:r>
          </a:p>
        </p:txBody>
      </p:sp>
      <p:sp>
        <p:nvSpPr>
          <p:cNvPr id="6" name="Footer Placeholder 3">
            <a:extLst>
              <a:ext uri="{FF2B5EF4-FFF2-40B4-BE49-F238E27FC236}">
                <a16:creationId xmlns:a16="http://schemas.microsoft.com/office/drawing/2014/main" id="{D6DAE543-AA04-385A-1B22-D1D5FF7A5F71}"/>
              </a:ext>
            </a:extLst>
          </p:cNvPr>
          <p:cNvSpPr>
            <a:spLocks noGrp="1"/>
          </p:cNvSpPr>
          <p:nvPr>
            <p:ph type="ftr" sz="quarter" idx="11"/>
          </p:nvPr>
        </p:nvSpPr>
        <p:spPr>
          <a:xfrm>
            <a:off x="4038600" y="6356350"/>
            <a:ext cx="4114800" cy="365125"/>
          </a:xfrm>
        </p:spPr>
        <p:txBody>
          <a:bodyPr/>
          <a:lstStyle/>
          <a:p>
            <a:pPr>
              <a:spcAft>
                <a:spcPts val="600"/>
              </a:spcAft>
            </a:pPr>
            <a:r>
              <a:rPr lang="en-US" dirty="0"/>
              <a:t>Texas Tech University</a:t>
            </a:r>
          </a:p>
        </p:txBody>
      </p:sp>
      <p:sp>
        <p:nvSpPr>
          <p:cNvPr id="5" name="TextBox 4">
            <a:extLst>
              <a:ext uri="{FF2B5EF4-FFF2-40B4-BE49-F238E27FC236}">
                <a16:creationId xmlns:a16="http://schemas.microsoft.com/office/drawing/2014/main" id="{E2F71CCD-A061-43EF-1DC4-5A308CC1C157}"/>
              </a:ext>
            </a:extLst>
          </p:cNvPr>
          <p:cNvSpPr txBox="1"/>
          <p:nvPr/>
        </p:nvSpPr>
        <p:spPr>
          <a:xfrm>
            <a:off x="4841033" y="1394438"/>
            <a:ext cx="6624734" cy="4278094"/>
          </a:xfrm>
          <a:prstGeom prst="rect">
            <a:avLst/>
          </a:prstGeom>
          <a:noFill/>
        </p:spPr>
        <p:txBody>
          <a:bodyPr wrap="square" rtlCol="0">
            <a:spAutoFit/>
          </a:bodyPr>
          <a:lstStyle/>
          <a:p>
            <a:pPr marL="285750" indent="-285750">
              <a:buFont typeface="Arial" panose="020B0604020202020204" pitchFamily="34" charset="0"/>
              <a:buChar char="•"/>
            </a:pPr>
            <a:r>
              <a:rPr lang="en-US" dirty="0"/>
              <a:t>The existing work employs benchmark intrusion detection datasets such as UNSW-NB15 and NSL-KDD, in which raw network records are organized into categories including normal, DoS, Probe, R2L, and U2R.</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dirty="0"/>
              <a:t>These categorized records are then subjected to machine learning classification algorithms, primarily Support Vector Machine, K-Nearest Neighbor, and Naive Bayes, for the purpose of distinguishing malicious traffic from legitimate traffic.</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dirty="0"/>
              <a:t>The performance of the applied algorithms is subsequently compared on the basis of classification accuracy, and </a:t>
            </a:r>
            <a:r>
              <a:rPr lang="en-US" b="1" dirty="0"/>
              <a:t>Support Vector Machine</a:t>
            </a:r>
            <a:r>
              <a:rPr lang="en-US" dirty="0"/>
              <a:t> is reported as the best-performing model among the considered classifiers.</a:t>
            </a:r>
          </a:p>
          <a:p>
            <a:pPr marL="285750" indent="-285750">
              <a:buFont typeface="Arial" panose="020B0604020202020204" pitchFamily="34" charset="0"/>
              <a:buChar char="•"/>
            </a:pPr>
            <a:endParaRPr lang="en-US" dirty="0"/>
          </a:p>
        </p:txBody>
      </p:sp>
      <p:pic>
        <p:nvPicPr>
          <p:cNvPr id="8" name="Picture 7">
            <a:extLst>
              <a:ext uri="{FF2B5EF4-FFF2-40B4-BE49-F238E27FC236}">
                <a16:creationId xmlns:a16="http://schemas.microsoft.com/office/drawing/2014/main" id="{7DA89309-99EA-7B0C-836A-D6407A17C1E1}"/>
              </a:ext>
            </a:extLst>
          </p:cNvPr>
          <p:cNvPicPr>
            <a:picLocks noChangeAspect="1"/>
          </p:cNvPicPr>
          <p:nvPr/>
        </p:nvPicPr>
        <p:blipFill>
          <a:blip r:embed="rId2"/>
          <a:srcRect t="1" b="1603"/>
          <a:stretch>
            <a:fillRect/>
          </a:stretch>
        </p:blipFill>
        <p:spPr>
          <a:xfrm>
            <a:off x="726233" y="1545650"/>
            <a:ext cx="3680544" cy="1545702"/>
          </a:xfrm>
          <a:prstGeom prst="rect">
            <a:avLst/>
          </a:prstGeom>
        </p:spPr>
      </p:pic>
      <p:pic>
        <p:nvPicPr>
          <p:cNvPr id="11" name="Picture 10">
            <a:extLst>
              <a:ext uri="{FF2B5EF4-FFF2-40B4-BE49-F238E27FC236}">
                <a16:creationId xmlns:a16="http://schemas.microsoft.com/office/drawing/2014/main" id="{D6D0E32E-CAF4-AA3E-8180-EE4F24AA52CE}"/>
              </a:ext>
            </a:extLst>
          </p:cNvPr>
          <p:cNvPicPr>
            <a:picLocks noChangeAspect="1"/>
          </p:cNvPicPr>
          <p:nvPr/>
        </p:nvPicPr>
        <p:blipFill>
          <a:blip r:embed="rId3"/>
          <a:stretch>
            <a:fillRect/>
          </a:stretch>
        </p:blipFill>
        <p:spPr>
          <a:xfrm>
            <a:off x="726233" y="3760625"/>
            <a:ext cx="3680544" cy="1502544"/>
          </a:xfrm>
          <a:prstGeom prst="rect">
            <a:avLst/>
          </a:prstGeom>
        </p:spPr>
      </p:pic>
      <p:sp>
        <p:nvSpPr>
          <p:cNvPr id="2" name="TextBox 1">
            <a:extLst>
              <a:ext uri="{FF2B5EF4-FFF2-40B4-BE49-F238E27FC236}">
                <a16:creationId xmlns:a16="http://schemas.microsoft.com/office/drawing/2014/main" id="{273C8A42-40F9-5C3C-CEAB-591E62F52D17}"/>
              </a:ext>
            </a:extLst>
          </p:cNvPr>
          <p:cNvSpPr txBox="1"/>
          <p:nvPr/>
        </p:nvSpPr>
        <p:spPr>
          <a:xfrm>
            <a:off x="1533237" y="3083230"/>
            <a:ext cx="2800927" cy="261610"/>
          </a:xfrm>
          <a:prstGeom prst="rect">
            <a:avLst/>
          </a:prstGeom>
          <a:noFill/>
        </p:spPr>
        <p:txBody>
          <a:bodyPr wrap="square" rtlCol="0">
            <a:spAutoFit/>
          </a:bodyPr>
          <a:lstStyle/>
          <a:p>
            <a:pPr algn="ctr"/>
            <a:r>
              <a:rPr lang="en-US" sz="1100" dirty="0">
                <a:solidFill>
                  <a:schemeClr val="tx1">
                    <a:lumMod val="50000"/>
                    <a:lumOff val="50000"/>
                  </a:schemeClr>
                </a:solidFill>
              </a:rPr>
              <a:t>UNSW-NB15 dataset results</a:t>
            </a:r>
          </a:p>
        </p:txBody>
      </p:sp>
      <p:sp>
        <p:nvSpPr>
          <p:cNvPr id="3" name="TextBox 2">
            <a:extLst>
              <a:ext uri="{FF2B5EF4-FFF2-40B4-BE49-F238E27FC236}">
                <a16:creationId xmlns:a16="http://schemas.microsoft.com/office/drawing/2014/main" id="{3902E126-63A5-B7DF-7DE6-7811BA8E60F5}"/>
              </a:ext>
            </a:extLst>
          </p:cNvPr>
          <p:cNvSpPr txBox="1"/>
          <p:nvPr/>
        </p:nvSpPr>
        <p:spPr>
          <a:xfrm>
            <a:off x="1533237" y="5363726"/>
            <a:ext cx="2800927" cy="261610"/>
          </a:xfrm>
          <a:prstGeom prst="rect">
            <a:avLst/>
          </a:prstGeom>
          <a:noFill/>
        </p:spPr>
        <p:txBody>
          <a:bodyPr wrap="square" rtlCol="0">
            <a:spAutoFit/>
          </a:bodyPr>
          <a:lstStyle/>
          <a:p>
            <a:pPr algn="ctr"/>
            <a:r>
              <a:rPr lang="en-US" sz="1100" dirty="0">
                <a:solidFill>
                  <a:schemeClr val="tx1">
                    <a:lumMod val="50000"/>
                    <a:lumOff val="50000"/>
                  </a:schemeClr>
                </a:solidFill>
              </a:rPr>
              <a:t>NSL-KDD dataset results</a:t>
            </a:r>
          </a:p>
        </p:txBody>
      </p:sp>
    </p:spTree>
    <p:extLst>
      <p:ext uri="{BB962C8B-B14F-4D97-AF65-F5344CB8AC3E}">
        <p14:creationId xmlns:p14="http://schemas.microsoft.com/office/powerpoint/2010/main" val="3586727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41B851-F2E4-007B-9564-69E9F8FC50FB}"/>
              </a:ext>
            </a:extLst>
          </p:cNvPr>
          <p:cNvSpPr txBox="1"/>
          <p:nvPr/>
        </p:nvSpPr>
        <p:spPr>
          <a:xfrm>
            <a:off x="816429" y="1011299"/>
            <a:ext cx="6157951" cy="523220"/>
          </a:xfrm>
          <a:prstGeom prst="rect">
            <a:avLst/>
          </a:prstGeom>
          <a:noFill/>
        </p:spPr>
        <p:txBody>
          <a:bodyPr wrap="square" rtlCol="0">
            <a:spAutoFit/>
          </a:bodyPr>
          <a:lstStyle/>
          <a:p>
            <a:r>
              <a:rPr lang="en-US" sz="2800" b="1" dirty="0"/>
              <a:t>Limitations in Existing Work</a:t>
            </a:r>
            <a:endParaRPr lang="en-IN" sz="2800" b="1" dirty="0">
              <a:latin typeface="+mj-lt"/>
              <a:cs typeface="Times New Roman" panose="02020603050405020304" pitchFamily="18" charset="0"/>
            </a:endParaRPr>
          </a:p>
        </p:txBody>
      </p:sp>
      <p:sp>
        <p:nvSpPr>
          <p:cNvPr id="3" name="TextBox 2">
            <a:extLst>
              <a:ext uri="{FF2B5EF4-FFF2-40B4-BE49-F238E27FC236}">
                <a16:creationId xmlns:a16="http://schemas.microsoft.com/office/drawing/2014/main" id="{1CF6E543-7565-99E0-17A5-22D7DEE2637B}"/>
              </a:ext>
            </a:extLst>
          </p:cNvPr>
          <p:cNvSpPr txBox="1"/>
          <p:nvPr/>
        </p:nvSpPr>
        <p:spPr>
          <a:xfrm>
            <a:off x="816429" y="1876383"/>
            <a:ext cx="6620069" cy="3447098"/>
          </a:xfrm>
          <a:prstGeom prst="rect">
            <a:avLst/>
          </a:prstGeom>
          <a:noFill/>
        </p:spPr>
        <p:txBody>
          <a:bodyPr wrap="square" rtlCol="0">
            <a:spAutoFit/>
          </a:bodyPr>
          <a:lstStyle/>
          <a:p>
            <a:pPr marL="285750" indent="-285750">
              <a:buFont typeface="Arial" panose="020B0604020202020204" pitchFamily="34" charset="0"/>
              <a:buChar char="•"/>
            </a:pPr>
            <a:r>
              <a:rPr lang="en-US" dirty="0"/>
              <a:t>The existing work mainly concentrates on classifier-level comparison and final accuracy values, while comparatively limited emphasis is placed on a detailed preprocessing methodology prior to model training.</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dirty="0"/>
              <a:t>Important stages such as data cleaning, categorical encoding, feature scaling, class balancing, and feature selection are not presented as a clearly structured core pipeline in the study.</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dirty="0"/>
              <a:t>Consequently, although the study identifies the better-performing classifier, it evaluates only a limited number of classifiers for NIDS, which provides less comprehensive insight into model comparison.</a:t>
            </a:r>
            <a:endParaRPr lang="en-IN" dirty="0"/>
          </a:p>
        </p:txBody>
      </p:sp>
      <p:sp>
        <p:nvSpPr>
          <p:cNvPr id="4" name="Footer Placeholder 3">
            <a:extLst>
              <a:ext uri="{FF2B5EF4-FFF2-40B4-BE49-F238E27FC236}">
                <a16:creationId xmlns:a16="http://schemas.microsoft.com/office/drawing/2014/main" id="{4019A570-3B76-1EB8-02AE-635653FD7691}"/>
              </a:ext>
            </a:extLst>
          </p:cNvPr>
          <p:cNvSpPr>
            <a:spLocks noGrp="1"/>
          </p:cNvSpPr>
          <p:nvPr>
            <p:ph type="ftr" sz="quarter" idx="11"/>
          </p:nvPr>
        </p:nvSpPr>
        <p:spPr>
          <a:xfrm>
            <a:off x="4038600" y="6356350"/>
            <a:ext cx="4114800" cy="365125"/>
          </a:xfrm>
        </p:spPr>
        <p:txBody>
          <a:bodyPr/>
          <a:lstStyle/>
          <a:p>
            <a:pPr>
              <a:spcAft>
                <a:spcPts val="600"/>
              </a:spcAft>
            </a:pPr>
            <a:r>
              <a:rPr lang="en-US" dirty="0"/>
              <a:t>Texas Tech University</a:t>
            </a:r>
          </a:p>
        </p:txBody>
      </p:sp>
      <p:pic>
        <p:nvPicPr>
          <p:cNvPr id="2055" name="Picture 7">
            <a:extLst>
              <a:ext uri="{FF2B5EF4-FFF2-40B4-BE49-F238E27FC236}">
                <a16:creationId xmlns:a16="http://schemas.microsoft.com/office/drawing/2014/main" id="{DA27424D-7DAD-9913-0B3E-4F834DCE50D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814"/>
          <a:stretch>
            <a:fillRect/>
          </a:stretch>
        </p:blipFill>
        <p:spPr bwMode="auto">
          <a:xfrm rot="5400000">
            <a:off x="7214621" y="1950078"/>
            <a:ext cx="4734281" cy="28567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3131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0C8D24C-7106-5A85-026E-80692FF8F03B}"/>
              </a:ext>
            </a:extLst>
          </p:cNvPr>
          <p:cNvSpPr txBox="1"/>
          <p:nvPr/>
        </p:nvSpPr>
        <p:spPr>
          <a:xfrm flipV="1">
            <a:off x="2623693" y="5741531"/>
            <a:ext cx="6063771"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C804B5A-6E11-6BDD-1179-0B6D28129D35}"/>
              </a:ext>
            </a:extLst>
          </p:cNvPr>
          <p:cNvSpPr txBox="1"/>
          <p:nvPr/>
        </p:nvSpPr>
        <p:spPr>
          <a:xfrm>
            <a:off x="969064" y="747137"/>
            <a:ext cx="5616793" cy="523220"/>
          </a:xfrm>
          <a:prstGeom prst="rect">
            <a:avLst/>
          </a:prstGeom>
          <a:noFill/>
        </p:spPr>
        <p:txBody>
          <a:bodyPr wrap="square" rtlCol="0">
            <a:spAutoFit/>
          </a:bodyPr>
          <a:lstStyle/>
          <a:p>
            <a:r>
              <a:rPr lang="en-IN" sz="2800" b="1" dirty="0">
                <a:latin typeface="+mj-lt"/>
                <a:cs typeface="Times New Roman" panose="02020603050405020304" pitchFamily="18" charset="0"/>
              </a:rPr>
              <a:t>Proposed Work</a:t>
            </a:r>
          </a:p>
        </p:txBody>
      </p:sp>
      <p:sp>
        <p:nvSpPr>
          <p:cNvPr id="10" name="TextBox 9">
            <a:extLst>
              <a:ext uri="{FF2B5EF4-FFF2-40B4-BE49-F238E27FC236}">
                <a16:creationId xmlns:a16="http://schemas.microsoft.com/office/drawing/2014/main" id="{B07EC8E0-2C1E-7C0A-3329-1BD947469CFA}"/>
              </a:ext>
            </a:extLst>
          </p:cNvPr>
          <p:cNvSpPr txBox="1"/>
          <p:nvPr/>
        </p:nvSpPr>
        <p:spPr>
          <a:xfrm>
            <a:off x="5748320" y="1351141"/>
            <a:ext cx="5878287" cy="4555093"/>
          </a:xfrm>
          <a:prstGeom prst="rect">
            <a:avLst/>
          </a:prstGeom>
          <a:noFill/>
        </p:spPr>
        <p:txBody>
          <a:bodyPr wrap="square" rtlCol="0">
            <a:spAutoFit/>
          </a:bodyPr>
          <a:lstStyle/>
          <a:p>
            <a:pPr marL="285750" indent="-285750">
              <a:buFont typeface="Arial" panose="020B0604020202020204" pitchFamily="34" charset="0"/>
              <a:buChar char="•"/>
            </a:pPr>
            <a:r>
              <a:rPr lang="en-US" dirty="0"/>
              <a:t>Our work is based on the same objective of identifying intrusive and normal traffic using machine learning techniques, but it adopts a more comprehensive methodological pipeline before the stage of model comparison.</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dirty="0"/>
              <a:t>In our proposed approach, the data is processed through preprocessing, categorical encoding, feature scaling, class balancing, and feature extraction before being subjected to classification.</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dirty="0"/>
              <a:t>In addition, our work extends the comparative study by employing a broader range of algorithms, including Naive Bayes, K-Nearest </a:t>
            </a:r>
            <a:r>
              <a:rPr lang="en-US" dirty="0" err="1"/>
              <a:t>Neighbour</a:t>
            </a:r>
            <a:r>
              <a:rPr lang="en-US" dirty="0"/>
              <a:t>, Decision Tree, Logistic Regression, Random Forest, and Support Vector Machine, thereby enabling a more extensive evaluation of model performance.</a:t>
            </a:r>
          </a:p>
        </p:txBody>
      </p:sp>
      <p:sp>
        <p:nvSpPr>
          <p:cNvPr id="2" name="Footer Placeholder 3">
            <a:extLst>
              <a:ext uri="{FF2B5EF4-FFF2-40B4-BE49-F238E27FC236}">
                <a16:creationId xmlns:a16="http://schemas.microsoft.com/office/drawing/2014/main" id="{95381060-0511-5C4F-9085-51384272B863}"/>
              </a:ext>
            </a:extLst>
          </p:cNvPr>
          <p:cNvSpPr>
            <a:spLocks noGrp="1"/>
          </p:cNvSpPr>
          <p:nvPr>
            <p:ph type="ftr" sz="quarter" idx="11"/>
          </p:nvPr>
        </p:nvSpPr>
        <p:spPr>
          <a:xfrm>
            <a:off x="4038600" y="6356350"/>
            <a:ext cx="4114800" cy="365125"/>
          </a:xfrm>
        </p:spPr>
        <p:txBody>
          <a:bodyPr/>
          <a:lstStyle/>
          <a:p>
            <a:pPr>
              <a:spcAft>
                <a:spcPts val="600"/>
              </a:spcAft>
            </a:pPr>
            <a:r>
              <a:rPr lang="en-US" dirty="0"/>
              <a:t>Texas Tech University</a:t>
            </a:r>
          </a:p>
        </p:txBody>
      </p:sp>
      <p:pic>
        <p:nvPicPr>
          <p:cNvPr id="3" name="Picture 2">
            <a:extLst>
              <a:ext uri="{FF2B5EF4-FFF2-40B4-BE49-F238E27FC236}">
                <a16:creationId xmlns:a16="http://schemas.microsoft.com/office/drawing/2014/main" id="{95AF4710-602C-6479-04F2-4157FE6597B1}"/>
              </a:ext>
            </a:extLst>
          </p:cNvPr>
          <p:cNvPicPr>
            <a:picLocks noChangeAspect="1"/>
          </p:cNvPicPr>
          <p:nvPr/>
        </p:nvPicPr>
        <p:blipFill rotWithShape="1">
          <a:blip r:embed="rId2"/>
          <a:srcRect t="6327" r="20388"/>
          <a:stretch/>
        </p:blipFill>
        <p:spPr>
          <a:xfrm>
            <a:off x="920620" y="2079941"/>
            <a:ext cx="4309380" cy="3097494"/>
          </a:xfrm>
          <a:prstGeom prst="rect">
            <a:avLst/>
          </a:prstGeom>
        </p:spPr>
      </p:pic>
    </p:spTree>
    <p:extLst>
      <p:ext uri="{BB962C8B-B14F-4D97-AF65-F5344CB8AC3E}">
        <p14:creationId xmlns:p14="http://schemas.microsoft.com/office/powerpoint/2010/main" val="3333893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3EA3E84-A2A4-0C22-43BF-02D879A3409C}"/>
              </a:ext>
            </a:extLst>
          </p:cNvPr>
          <p:cNvSpPr>
            <a:spLocks noGrp="1"/>
          </p:cNvSpPr>
          <p:nvPr>
            <p:ph type="ftr" sz="quarter" idx="11"/>
          </p:nvPr>
        </p:nvSpPr>
        <p:spPr>
          <a:xfrm>
            <a:off x="4038600" y="6356350"/>
            <a:ext cx="4114800" cy="365125"/>
          </a:xfrm>
        </p:spPr>
        <p:txBody>
          <a:bodyPr/>
          <a:lstStyle/>
          <a:p>
            <a:pPr>
              <a:spcAft>
                <a:spcPts val="600"/>
              </a:spcAft>
            </a:pPr>
            <a:r>
              <a:rPr lang="en-US" dirty="0"/>
              <a:t>Texas Tech University</a:t>
            </a:r>
          </a:p>
        </p:txBody>
      </p:sp>
      <p:sp>
        <p:nvSpPr>
          <p:cNvPr id="5" name="TextBox 4">
            <a:extLst>
              <a:ext uri="{FF2B5EF4-FFF2-40B4-BE49-F238E27FC236}">
                <a16:creationId xmlns:a16="http://schemas.microsoft.com/office/drawing/2014/main" id="{A17CEDC2-7849-71BA-E574-2220783CDF3E}"/>
              </a:ext>
            </a:extLst>
          </p:cNvPr>
          <p:cNvSpPr txBox="1"/>
          <p:nvPr/>
        </p:nvSpPr>
        <p:spPr>
          <a:xfrm>
            <a:off x="793102" y="561720"/>
            <a:ext cx="8126964" cy="523220"/>
          </a:xfrm>
          <a:prstGeom prst="rect">
            <a:avLst/>
          </a:prstGeom>
          <a:noFill/>
        </p:spPr>
        <p:txBody>
          <a:bodyPr wrap="square" rtlCol="0">
            <a:spAutoFit/>
          </a:bodyPr>
          <a:lstStyle/>
          <a:p>
            <a:r>
              <a:rPr lang="en-US" sz="2800" b="1" dirty="0"/>
              <a:t>Scaling and Encoding of Attributes</a:t>
            </a:r>
          </a:p>
        </p:txBody>
      </p:sp>
      <p:sp>
        <p:nvSpPr>
          <p:cNvPr id="6" name="TextBox 5">
            <a:extLst>
              <a:ext uri="{FF2B5EF4-FFF2-40B4-BE49-F238E27FC236}">
                <a16:creationId xmlns:a16="http://schemas.microsoft.com/office/drawing/2014/main" id="{042E43F5-7751-C467-3718-C05B643B518F}"/>
              </a:ext>
            </a:extLst>
          </p:cNvPr>
          <p:cNvSpPr txBox="1"/>
          <p:nvPr/>
        </p:nvSpPr>
        <p:spPr>
          <a:xfrm>
            <a:off x="793102" y="1333042"/>
            <a:ext cx="5411755" cy="4555093"/>
          </a:xfrm>
          <a:prstGeom prst="rect">
            <a:avLst/>
          </a:prstGeom>
          <a:noFill/>
        </p:spPr>
        <p:txBody>
          <a:bodyPr wrap="square" rtlCol="0">
            <a:spAutoFit/>
          </a:bodyPr>
          <a:lstStyle/>
          <a:p>
            <a:pPr marL="285750" indent="-285750">
              <a:buFont typeface="Arial" panose="020B0604020202020204" pitchFamily="34" charset="0"/>
              <a:buChar char="•"/>
            </a:pPr>
            <a:r>
              <a:rPr lang="en-US" dirty="0"/>
              <a:t>Numerical attributes are scaled using </a:t>
            </a:r>
            <a:r>
              <a:rPr lang="en-US" dirty="0" err="1"/>
              <a:t>StandardScaler</a:t>
            </a:r>
            <a:r>
              <a:rPr lang="en-US" dirty="0"/>
              <a:t> to transform them toward zero mean and unit variance. This helps bring different numeric features to a comparable range for model training.</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dirty="0"/>
              <a:t>Categorical attributes are converted into numerical form using Label Encoding. This allows machine learning algorithms to process non-numeric fields such as protocol or service-related values.</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dirty="0"/>
              <a:t>After encoding, the target column is separated from the feature set for training and testing. These preprocessing steps make the dataset more suitable for classification in the intrusion detection system.</a:t>
            </a:r>
          </a:p>
        </p:txBody>
      </p:sp>
      <p:pic>
        <p:nvPicPr>
          <p:cNvPr id="12" name="Picture 11">
            <a:extLst>
              <a:ext uri="{FF2B5EF4-FFF2-40B4-BE49-F238E27FC236}">
                <a16:creationId xmlns:a16="http://schemas.microsoft.com/office/drawing/2014/main" id="{C20E7BCA-5BA9-C38E-DA27-AE2A9BCD5CD4}"/>
              </a:ext>
            </a:extLst>
          </p:cNvPr>
          <p:cNvPicPr>
            <a:picLocks noChangeAspect="1"/>
          </p:cNvPicPr>
          <p:nvPr/>
        </p:nvPicPr>
        <p:blipFill>
          <a:blip r:embed="rId3"/>
          <a:stretch>
            <a:fillRect/>
          </a:stretch>
        </p:blipFill>
        <p:spPr>
          <a:xfrm>
            <a:off x="6547080" y="1553155"/>
            <a:ext cx="5212126" cy="1695583"/>
          </a:xfrm>
          <a:prstGeom prst="rect">
            <a:avLst/>
          </a:prstGeom>
        </p:spPr>
      </p:pic>
      <p:pic>
        <p:nvPicPr>
          <p:cNvPr id="14" name="Picture 13">
            <a:extLst>
              <a:ext uri="{FF2B5EF4-FFF2-40B4-BE49-F238E27FC236}">
                <a16:creationId xmlns:a16="http://schemas.microsoft.com/office/drawing/2014/main" id="{B0A09D37-06D0-90A9-53BA-7DBA489C55A5}"/>
              </a:ext>
            </a:extLst>
          </p:cNvPr>
          <p:cNvPicPr>
            <a:picLocks noChangeAspect="1"/>
          </p:cNvPicPr>
          <p:nvPr/>
        </p:nvPicPr>
        <p:blipFill>
          <a:blip r:embed="rId4"/>
          <a:stretch>
            <a:fillRect/>
          </a:stretch>
        </p:blipFill>
        <p:spPr>
          <a:xfrm>
            <a:off x="6547080" y="3340446"/>
            <a:ext cx="3921867" cy="2482269"/>
          </a:xfrm>
          <a:prstGeom prst="rect">
            <a:avLst/>
          </a:prstGeom>
        </p:spPr>
      </p:pic>
    </p:spTree>
    <p:extLst>
      <p:ext uri="{BB962C8B-B14F-4D97-AF65-F5344CB8AC3E}">
        <p14:creationId xmlns:p14="http://schemas.microsoft.com/office/powerpoint/2010/main" val="1503464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a:extLst>
              <a:ext uri="{FF2B5EF4-FFF2-40B4-BE49-F238E27FC236}">
                <a16:creationId xmlns:a16="http://schemas.microsoft.com/office/drawing/2014/main" id="{1B9D0B85-FFDA-E5FD-B591-15EA81DD6113}"/>
              </a:ext>
            </a:extLst>
          </p:cNvPr>
          <p:cNvSpPr txBox="1"/>
          <p:nvPr/>
        </p:nvSpPr>
        <p:spPr>
          <a:xfrm>
            <a:off x="893856" y="615386"/>
            <a:ext cx="8117432" cy="523220"/>
          </a:xfrm>
          <a:prstGeom prst="rect">
            <a:avLst/>
          </a:prstGeom>
          <a:noFill/>
        </p:spPr>
        <p:txBody>
          <a:bodyPr wrap="square" rtlCol="0">
            <a:spAutoFit/>
          </a:bodyPr>
          <a:lstStyle/>
          <a:p>
            <a:r>
              <a:rPr lang="en-US" sz="2800" b="1" dirty="0"/>
              <a:t>Data Sampling Using Random Oversampling</a:t>
            </a:r>
          </a:p>
        </p:txBody>
      </p:sp>
      <p:sp>
        <p:nvSpPr>
          <p:cNvPr id="3" name="Footer Placeholder 3">
            <a:extLst>
              <a:ext uri="{FF2B5EF4-FFF2-40B4-BE49-F238E27FC236}">
                <a16:creationId xmlns:a16="http://schemas.microsoft.com/office/drawing/2014/main" id="{8CD4CBBB-FFB5-4DB7-C8E9-7EFA60B13D35}"/>
              </a:ext>
            </a:extLst>
          </p:cNvPr>
          <p:cNvSpPr>
            <a:spLocks noGrp="1"/>
          </p:cNvSpPr>
          <p:nvPr>
            <p:ph type="ftr" sz="quarter" idx="11"/>
          </p:nvPr>
        </p:nvSpPr>
        <p:spPr>
          <a:xfrm>
            <a:off x="4038600" y="6356350"/>
            <a:ext cx="4114800" cy="365125"/>
          </a:xfrm>
        </p:spPr>
        <p:txBody>
          <a:bodyPr/>
          <a:lstStyle/>
          <a:p>
            <a:pPr>
              <a:spcAft>
                <a:spcPts val="600"/>
              </a:spcAft>
            </a:pPr>
            <a:r>
              <a:rPr lang="en-US" dirty="0"/>
              <a:t>Texas Tech University</a:t>
            </a:r>
          </a:p>
        </p:txBody>
      </p:sp>
      <p:pic>
        <p:nvPicPr>
          <p:cNvPr id="6" name="Picture 5">
            <a:extLst>
              <a:ext uri="{FF2B5EF4-FFF2-40B4-BE49-F238E27FC236}">
                <a16:creationId xmlns:a16="http://schemas.microsoft.com/office/drawing/2014/main" id="{0B193923-6FB4-672B-13F0-AD61421B08DA}"/>
              </a:ext>
            </a:extLst>
          </p:cNvPr>
          <p:cNvPicPr>
            <a:picLocks noChangeAspect="1"/>
          </p:cNvPicPr>
          <p:nvPr/>
        </p:nvPicPr>
        <p:blipFill>
          <a:blip r:embed="rId2"/>
          <a:stretch>
            <a:fillRect/>
          </a:stretch>
        </p:blipFill>
        <p:spPr>
          <a:xfrm>
            <a:off x="893856" y="1473997"/>
            <a:ext cx="5306748" cy="4366695"/>
          </a:xfrm>
          <a:prstGeom prst="rect">
            <a:avLst/>
          </a:prstGeom>
        </p:spPr>
      </p:pic>
      <p:sp>
        <p:nvSpPr>
          <p:cNvPr id="7" name="TextBox 6">
            <a:extLst>
              <a:ext uri="{FF2B5EF4-FFF2-40B4-BE49-F238E27FC236}">
                <a16:creationId xmlns:a16="http://schemas.microsoft.com/office/drawing/2014/main" id="{C8687BE1-D3BD-E536-0B72-00914C60382E}"/>
              </a:ext>
            </a:extLst>
          </p:cNvPr>
          <p:cNvSpPr txBox="1"/>
          <p:nvPr/>
        </p:nvSpPr>
        <p:spPr>
          <a:xfrm>
            <a:off x="6589994" y="1473997"/>
            <a:ext cx="4842588" cy="4278094"/>
          </a:xfrm>
          <a:prstGeom prst="rect">
            <a:avLst/>
          </a:prstGeom>
          <a:noFill/>
        </p:spPr>
        <p:txBody>
          <a:bodyPr wrap="square" rtlCol="0">
            <a:spAutoFit/>
          </a:bodyPr>
          <a:lstStyle/>
          <a:p>
            <a:pPr marL="285750" indent="-285750">
              <a:buFont typeface="Arial" panose="020B0604020202020204" pitchFamily="34" charset="0"/>
              <a:buChar char="•"/>
            </a:pPr>
            <a:r>
              <a:rPr lang="en-US" dirty="0"/>
              <a:t>Random Oversampling is used to solve the class imbalance problem in the intrusion dataset. It increases the number of minority attack samples in the training data.</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dirty="0"/>
              <a:t>The method works by randomly duplicating existing instances from underrepresented classes. This helps create a more balanced class distribution for model training.</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dirty="0"/>
              <a:t>A balanced dataset reduces bias toward majority classes and improves learning for rare intrusion categories. In this system, oversampling is applied after selecting numerical features and encoding categorical attributes.</a:t>
            </a:r>
          </a:p>
        </p:txBody>
      </p:sp>
    </p:spTree>
    <p:extLst>
      <p:ext uri="{BB962C8B-B14F-4D97-AF65-F5344CB8AC3E}">
        <p14:creationId xmlns:p14="http://schemas.microsoft.com/office/powerpoint/2010/main" val="801096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28353C0-7CFA-077F-6A8D-D556D6237181}"/>
              </a:ext>
            </a:extLst>
          </p:cNvPr>
          <p:cNvSpPr>
            <a:spLocks noGrp="1"/>
          </p:cNvSpPr>
          <p:nvPr>
            <p:ph type="sldNum" sz="quarter" idx="12"/>
          </p:nvPr>
        </p:nvSpPr>
        <p:spPr/>
        <p:txBody>
          <a:bodyPr/>
          <a:lstStyle/>
          <a:p>
            <a:fld id="{A49DFD55-3C28-40EF-9E31-A92D2E4017FF}" type="slidenum">
              <a:rPr lang="en-US" smtClean="0"/>
              <a:pPr/>
              <a:t>9</a:t>
            </a:fld>
            <a:endParaRPr lang="en-US" dirty="0"/>
          </a:p>
        </p:txBody>
      </p:sp>
      <p:sp>
        <p:nvSpPr>
          <p:cNvPr id="6" name="TextBox 5">
            <a:extLst>
              <a:ext uri="{FF2B5EF4-FFF2-40B4-BE49-F238E27FC236}">
                <a16:creationId xmlns:a16="http://schemas.microsoft.com/office/drawing/2014/main" id="{BD84A296-27C5-6E13-29E7-6756EEC281AC}"/>
              </a:ext>
            </a:extLst>
          </p:cNvPr>
          <p:cNvSpPr txBox="1"/>
          <p:nvPr/>
        </p:nvSpPr>
        <p:spPr>
          <a:xfrm>
            <a:off x="1073021" y="737118"/>
            <a:ext cx="8826759" cy="523220"/>
          </a:xfrm>
          <a:prstGeom prst="rect">
            <a:avLst/>
          </a:prstGeom>
          <a:noFill/>
        </p:spPr>
        <p:txBody>
          <a:bodyPr wrap="square" rtlCol="0">
            <a:spAutoFit/>
          </a:bodyPr>
          <a:lstStyle/>
          <a:p>
            <a:r>
              <a:rPr lang="en-US" sz="2800" b="1" dirty="0"/>
              <a:t>Feature Selection Techniques</a:t>
            </a:r>
          </a:p>
        </p:txBody>
      </p:sp>
      <p:pic>
        <p:nvPicPr>
          <p:cNvPr id="7" name="Picture 6">
            <a:extLst>
              <a:ext uri="{FF2B5EF4-FFF2-40B4-BE49-F238E27FC236}">
                <a16:creationId xmlns:a16="http://schemas.microsoft.com/office/drawing/2014/main" id="{5438E9CC-CA2B-291D-C7DF-DE5403457801}"/>
              </a:ext>
            </a:extLst>
          </p:cNvPr>
          <p:cNvPicPr>
            <a:picLocks noChangeAspect="1"/>
          </p:cNvPicPr>
          <p:nvPr/>
        </p:nvPicPr>
        <p:blipFill>
          <a:blip r:embed="rId2"/>
          <a:stretch>
            <a:fillRect/>
          </a:stretch>
        </p:blipFill>
        <p:spPr>
          <a:xfrm>
            <a:off x="5752322" y="1657074"/>
            <a:ext cx="5749949" cy="1863352"/>
          </a:xfrm>
          <a:prstGeom prst="rect">
            <a:avLst/>
          </a:prstGeom>
        </p:spPr>
      </p:pic>
      <p:pic>
        <p:nvPicPr>
          <p:cNvPr id="8" name="Picture 7">
            <a:extLst>
              <a:ext uri="{FF2B5EF4-FFF2-40B4-BE49-F238E27FC236}">
                <a16:creationId xmlns:a16="http://schemas.microsoft.com/office/drawing/2014/main" id="{8BEAC80A-F138-EEC1-9BEA-39EBAE46907E}"/>
              </a:ext>
            </a:extLst>
          </p:cNvPr>
          <p:cNvPicPr>
            <a:picLocks noChangeAspect="1"/>
          </p:cNvPicPr>
          <p:nvPr/>
        </p:nvPicPr>
        <p:blipFill>
          <a:blip r:embed="rId3"/>
          <a:stretch>
            <a:fillRect/>
          </a:stretch>
        </p:blipFill>
        <p:spPr>
          <a:xfrm>
            <a:off x="5752322" y="3778366"/>
            <a:ext cx="5815264" cy="1822411"/>
          </a:xfrm>
          <a:prstGeom prst="rect">
            <a:avLst/>
          </a:prstGeom>
        </p:spPr>
      </p:pic>
      <p:sp>
        <p:nvSpPr>
          <p:cNvPr id="9" name="TextBox 8">
            <a:extLst>
              <a:ext uri="{FF2B5EF4-FFF2-40B4-BE49-F238E27FC236}">
                <a16:creationId xmlns:a16="http://schemas.microsoft.com/office/drawing/2014/main" id="{7A8FEC40-C6F7-A4F4-39C6-3D3E0D27562D}"/>
              </a:ext>
            </a:extLst>
          </p:cNvPr>
          <p:cNvSpPr txBox="1"/>
          <p:nvPr/>
        </p:nvSpPr>
        <p:spPr>
          <a:xfrm>
            <a:off x="1073021" y="1716263"/>
            <a:ext cx="4413379" cy="4124206"/>
          </a:xfrm>
          <a:prstGeom prst="rect">
            <a:avLst/>
          </a:prstGeom>
          <a:noFill/>
        </p:spPr>
        <p:txBody>
          <a:bodyPr wrap="square" rtlCol="0">
            <a:spAutoFit/>
          </a:bodyPr>
          <a:lstStyle/>
          <a:p>
            <a:pPr marL="285750" indent="-285750">
              <a:buFont typeface="Arial" panose="020B0604020202020204" pitchFamily="34" charset="0"/>
              <a:buChar char="•"/>
            </a:pPr>
            <a:r>
              <a:rPr lang="en-US" dirty="0"/>
              <a:t>Random Forest Feature Importance: The Random Forest classifier ranks features using the </a:t>
            </a:r>
            <a:r>
              <a:rPr lang="en-US" dirty="0" err="1"/>
              <a:t>feature_importances</a:t>
            </a:r>
            <a:r>
              <a:rPr lang="en-US" dirty="0"/>
              <a:t>_ attribute. Features with higher scores contribute more to reducing impurity and improving prediction accuracy.</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dirty="0"/>
              <a:t>Recursive Feature Elimination (RFE): RFE selects the best subset of features by repeatedly removing the least important ones. This helps reduce dimensionality and keeps only the most relevant attributes for classification.</a:t>
            </a:r>
          </a:p>
          <a:p>
            <a:pPr marL="285750" indent="-285750">
              <a:buFont typeface="Arial" panose="020B0604020202020204" pitchFamily="34" charset="0"/>
              <a:buChar char="•"/>
            </a:pPr>
            <a:endParaRPr lang="en-US" dirty="0"/>
          </a:p>
        </p:txBody>
      </p:sp>
      <p:sp>
        <p:nvSpPr>
          <p:cNvPr id="3" name="Footer Placeholder 3">
            <a:extLst>
              <a:ext uri="{FF2B5EF4-FFF2-40B4-BE49-F238E27FC236}">
                <a16:creationId xmlns:a16="http://schemas.microsoft.com/office/drawing/2014/main" id="{1C9B7522-B315-E056-A432-8ED783A85B5B}"/>
              </a:ext>
            </a:extLst>
          </p:cNvPr>
          <p:cNvSpPr>
            <a:spLocks noGrp="1"/>
          </p:cNvSpPr>
          <p:nvPr>
            <p:ph type="ftr" sz="quarter" idx="11"/>
          </p:nvPr>
        </p:nvSpPr>
        <p:spPr>
          <a:xfrm>
            <a:off x="4038600" y="6279653"/>
            <a:ext cx="4114800" cy="365125"/>
          </a:xfrm>
        </p:spPr>
        <p:txBody>
          <a:bodyPr/>
          <a:lstStyle/>
          <a:p>
            <a:pPr>
              <a:spcAft>
                <a:spcPts val="600"/>
              </a:spcAft>
            </a:pPr>
            <a:r>
              <a:rPr lang="en-US" dirty="0"/>
              <a:t>Texas Tech University</a:t>
            </a:r>
          </a:p>
        </p:txBody>
      </p:sp>
    </p:spTree>
    <p:extLst>
      <p:ext uri="{BB962C8B-B14F-4D97-AF65-F5344CB8AC3E}">
        <p14:creationId xmlns:p14="http://schemas.microsoft.com/office/powerpoint/2010/main" val="2624568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4AAB8-6062-DE7E-B62A-B224925400F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4DD198B-C59B-715F-EE3E-66F94CF644B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a:extLst>
              <a:ext uri="{FF2B5EF4-FFF2-40B4-BE49-F238E27FC236}">
                <a16:creationId xmlns:a16="http://schemas.microsoft.com/office/drawing/2014/main" id="{60AE2972-3C66-E228-7DA0-FB61A316891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a:extLst>
              <a:ext uri="{FF2B5EF4-FFF2-40B4-BE49-F238E27FC236}">
                <a16:creationId xmlns:a16="http://schemas.microsoft.com/office/drawing/2014/main" id="{2E4F3700-1262-AB18-D39E-96A9010467C6}"/>
              </a:ext>
            </a:extLst>
          </p:cNvPr>
          <p:cNvSpPr txBox="1"/>
          <p:nvPr/>
        </p:nvSpPr>
        <p:spPr>
          <a:xfrm>
            <a:off x="727789" y="438538"/>
            <a:ext cx="8453534" cy="523220"/>
          </a:xfrm>
          <a:prstGeom prst="rect">
            <a:avLst/>
          </a:prstGeom>
          <a:noFill/>
        </p:spPr>
        <p:txBody>
          <a:bodyPr wrap="square" rtlCol="0">
            <a:spAutoFit/>
          </a:bodyPr>
          <a:lstStyle/>
          <a:p>
            <a:r>
              <a:rPr lang="en-US" sz="2800" b="1" dirty="0"/>
              <a:t>Training and Evaluating Classifiers</a:t>
            </a:r>
          </a:p>
        </p:txBody>
      </p:sp>
      <p:pic>
        <p:nvPicPr>
          <p:cNvPr id="9" name="Picture 8">
            <a:extLst>
              <a:ext uri="{FF2B5EF4-FFF2-40B4-BE49-F238E27FC236}">
                <a16:creationId xmlns:a16="http://schemas.microsoft.com/office/drawing/2014/main" id="{BF4DA3A6-0A46-DE4D-7947-E10FBEB93AE9}"/>
              </a:ext>
            </a:extLst>
          </p:cNvPr>
          <p:cNvPicPr>
            <a:picLocks noChangeAspect="1"/>
          </p:cNvPicPr>
          <p:nvPr/>
        </p:nvPicPr>
        <p:blipFill>
          <a:blip r:embed="rId2"/>
          <a:stretch>
            <a:fillRect/>
          </a:stretch>
        </p:blipFill>
        <p:spPr>
          <a:xfrm>
            <a:off x="634482" y="1329688"/>
            <a:ext cx="5008381" cy="4893831"/>
          </a:xfrm>
          <a:prstGeom prst="rect">
            <a:avLst/>
          </a:prstGeom>
        </p:spPr>
      </p:pic>
      <p:sp>
        <p:nvSpPr>
          <p:cNvPr id="10" name="TextBox 9">
            <a:extLst>
              <a:ext uri="{FF2B5EF4-FFF2-40B4-BE49-F238E27FC236}">
                <a16:creationId xmlns:a16="http://schemas.microsoft.com/office/drawing/2014/main" id="{ADB50F1B-59FA-954A-569C-DEC1DDE8381B}"/>
              </a:ext>
            </a:extLst>
          </p:cNvPr>
          <p:cNvSpPr txBox="1"/>
          <p:nvPr/>
        </p:nvSpPr>
        <p:spPr>
          <a:xfrm>
            <a:off x="6018244" y="1329688"/>
            <a:ext cx="5539274" cy="4401205"/>
          </a:xfrm>
          <a:prstGeom prst="rect">
            <a:avLst/>
          </a:prstGeom>
          <a:noFill/>
        </p:spPr>
        <p:txBody>
          <a:bodyPr wrap="square" rtlCol="0">
            <a:spAutoFit/>
          </a:bodyPr>
          <a:lstStyle/>
          <a:p>
            <a:pPr marL="285750" indent="-285750">
              <a:buFont typeface="Arial" panose="020B0604020202020204" pitchFamily="34" charset="0"/>
              <a:buChar char="•"/>
            </a:pPr>
            <a:r>
              <a:rPr lang="en-US" dirty="0"/>
              <a:t>Multiple machine learning models—SVM, Naive Bayes, Decision Tree, Random Forest, KNN, and Logistic Regression—are developed to compare classifiers for network intrusion detection.</a:t>
            </a:r>
            <a:br>
              <a:rPr lang="en-US" dirty="0"/>
            </a:br>
            <a:r>
              <a:rPr lang="en-US" dirty="0"/>
              <a:t>Each model is evaluated using 10-fold cross-validation to assess average performance, ensuring consistency and reliability.</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dirty="0"/>
              <a:t>Accuracy, confusion matrix, and classification report are computed for each model to analyze prediction quality and effectiveness in detecting attacks.</a:t>
            </a:r>
            <a:br>
              <a:rPr lang="en-US" dirty="0"/>
            </a:br>
            <a:r>
              <a:rPr lang="en-US" dirty="0"/>
              <a:t>Finally, accuracy scores are compared to identify the best-performing classifier, supporting the selection of the most suitable model for the NIDS system.</a:t>
            </a:r>
          </a:p>
        </p:txBody>
      </p:sp>
      <p:sp>
        <p:nvSpPr>
          <p:cNvPr id="5" name="Footer Placeholder 3">
            <a:extLst>
              <a:ext uri="{FF2B5EF4-FFF2-40B4-BE49-F238E27FC236}">
                <a16:creationId xmlns:a16="http://schemas.microsoft.com/office/drawing/2014/main" id="{ED3C152F-B7BC-BB68-9D2E-FF9B50109D54}"/>
              </a:ext>
            </a:extLst>
          </p:cNvPr>
          <p:cNvSpPr>
            <a:spLocks noGrp="1"/>
          </p:cNvSpPr>
          <p:nvPr>
            <p:ph type="ftr" sz="quarter" idx="11"/>
          </p:nvPr>
        </p:nvSpPr>
        <p:spPr>
          <a:xfrm>
            <a:off x="4038600" y="6356350"/>
            <a:ext cx="4114800" cy="365125"/>
          </a:xfrm>
        </p:spPr>
        <p:txBody>
          <a:bodyPr/>
          <a:lstStyle/>
          <a:p>
            <a:pPr>
              <a:spcAft>
                <a:spcPts val="600"/>
              </a:spcAft>
            </a:pPr>
            <a:r>
              <a:rPr lang="en-US" dirty="0"/>
              <a:t>Texas Tech University</a:t>
            </a:r>
          </a:p>
        </p:txBody>
      </p:sp>
    </p:spTree>
    <p:extLst>
      <p:ext uri="{BB962C8B-B14F-4D97-AF65-F5344CB8AC3E}">
        <p14:creationId xmlns:p14="http://schemas.microsoft.com/office/powerpoint/2010/main" val="4131776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F7CFE-DAEE-340B-5BBA-C2F0E51DBF0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68C7FCC-E811-B24C-38B2-7ADE026C51EF}"/>
              </a:ext>
            </a:extLst>
          </p:cNvPr>
          <p:cNvSpPr>
            <a:spLocks noGrp="1"/>
          </p:cNvSpPr>
          <p:nvPr>
            <p:ph type="sldNum" sz="quarter" idx="12"/>
          </p:nvPr>
        </p:nvSpPr>
        <p:spPr/>
        <p:txBody>
          <a:bodyPr/>
          <a:lstStyle/>
          <a:p>
            <a:fld id="{A49DFD55-3C28-40EF-9E31-A92D2E4017FF}" type="slidenum">
              <a:rPr lang="en-US" smtClean="0"/>
              <a:pPr/>
              <a:t>11</a:t>
            </a:fld>
            <a:endParaRPr lang="en-US" dirty="0"/>
          </a:p>
        </p:txBody>
      </p:sp>
      <p:sp>
        <p:nvSpPr>
          <p:cNvPr id="6" name="TextBox 5">
            <a:extLst>
              <a:ext uri="{FF2B5EF4-FFF2-40B4-BE49-F238E27FC236}">
                <a16:creationId xmlns:a16="http://schemas.microsoft.com/office/drawing/2014/main" id="{5FA1F38E-D10C-45B5-AC2C-A9656970520F}"/>
              </a:ext>
            </a:extLst>
          </p:cNvPr>
          <p:cNvSpPr txBox="1"/>
          <p:nvPr/>
        </p:nvSpPr>
        <p:spPr>
          <a:xfrm>
            <a:off x="779576" y="737119"/>
            <a:ext cx="8826759" cy="523220"/>
          </a:xfrm>
          <a:prstGeom prst="rect">
            <a:avLst/>
          </a:prstGeom>
          <a:noFill/>
        </p:spPr>
        <p:txBody>
          <a:bodyPr wrap="square" rtlCol="0">
            <a:spAutoFit/>
          </a:bodyPr>
          <a:lstStyle/>
          <a:p>
            <a:r>
              <a:rPr lang="en-US" sz="2800" b="1" dirty="0"/>
              <a:t>Simulated Results</a:t>
            </a:r>
          </a:p>
        </p:txBody>
      </p:sp>
      <p:sp>
        <p:nvSpPr>
          <p:cNvPr id="9" name="TextBox 8">
            <a:extLst>
              <a:ext uri="{FF2B5EF4-FFF2-40B4-BE49-F238E27FC236}">
                <a16:creationId xmlns:a16="http://schemas.microsoft.com/office/drawing/2014/main" id="{F855C9F6-0611-D544-9D74-51D4095D215A}"/>
              </a:ext>
            </a:extLst>
          </p:cNvPr>
          <p:cNvSpPr txBox="1"/>
          <p:nvPr/>
        </p:nvSpPr>
        <p:spPr>
          <a:xfrm>
            <a:off x="779576" y="1716263"/>
            <a:ext cx="2817844" cy="369332"/>
          </a:xfrm>
          <a:prstGeom prst="rect">
            <a:avLst/>
          </a:prstGeom>
          <a:noFill/>
        </p:spPr>
        <p:txBody>
          <a:bodyPr wrap="square" rtlCol="0">
            <a:spAutoFit/>
          </a:bodyPr>
          <a:lstStyle/>
          <a:p>
            <a:pPr marL="285750" indent="-285750">
              <a:buFont typeface="Arial" panose="020B0604020202020204" pitchFamily="34" charset="0"/>
              <a:buChar char="•"/>
            </a:pPr>
            <a:r>
              <a:rPr lang="en-US" dirty="0"/>
              <a:t>UNSW_NB15 Dataset</a:t>
            </a:r>
          </a:p>
        </p:txBody>
      </p:sp>
      <p:sp>
        <p:nvSpPr>
          <p:cNvPr id="3" name="TextBox 2">
            <a:extLst>
              <a:ext uri="{FF2B5EF4-FFF2-40B4-BE49-F238E27FC236}">
                <a16:creationId xmlns:a16="http://schemas.microsoft.com/office/drawing/2014/main" id="{53A220A7-7657-B6BB-FC03-D40072B9803F}"/>
              </a:ext>
            </a:extLst>
          </p:cNvPr>
          <p:cNvSpPr txBox="1"/>
          <p:nvPr/>
        </p:nvSpPr>
        <p:spPr>
          <a:xfrm>
            <a:off x="6560508" y="1716263"/>
            <a:ext cx="2817844" cy="369332"/>
          </a:xfrm>
          <a:prstGeom prst="rect">
            <a:avLst/>
          </a:prstGeom>
          <a:noFill/>
        </p:spPr>
        <p:txBody>
          <a:bodyPr wrap="square" rtlCol="0">
            <a:spAutoFit/>
          </a:bodyPr>
          <a:lstStyle/>
          <a:p>
            <a:pPr marL="285750" indent="-285750">
              <a:buFont typeface="Arial" panose="020B0604020202020204" pitchFamily="34" charset="0"/>
              <a:buChar char="•"/>
            </a:pPr>
            <a:r>
              <a:rPr lang="en-US" dirty="0"/>
              <a:t>NSL-KDD Dataset</a:t>
            </a:r>
          </a:p>
        </p:txBody>
      </p:sp>
      <p:graphicFrame>
        <p:nvGraphicFramePr>
          <p:cNvPr id="12" name="Chart 11">
            <a:extLst>
              <a:ext uri="{FF2B5EF4-FFF2-40B4-BE49-F238E27FC236}">
                <a16:creationId xmlns:a16="http://schemas.microsoft.com/office/drawing/2014/main" id="{A2F61690-5C3E-6F14-F717-4CA679777DF7}"/>
              </a:ext>
            </a:extLst>
          </p:cNvPr>
          <p:cNvGraphicFramePr>
            <a:graphicFrameLocks/>
          </p:cNvGraphicFramePr>
          <p:nvPr>
            <p:extLst>
              <p:ext uri="{D42A27DB-BD31-4B8C-83A1-F6EECF244321}">
                <p14:modId xmlns:p14="http://schemas.microsoft.com/office/powerpoint/2010/main" val="2251340471"/>
              </p:ext>
            </p:extLst>
          </p:nvPr>
        </p:nvGraphicFramePr>
        <p:xfrm>
          <a:off x="779576" y="2276869"/>
          <a:ext cx="4851917" cy="384401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a:extLst>
              <a:ext uri="{FF2B5EF4-FFF2-40B4-BE49-F238E27FC236}">
                <a16:creationId xmlns:a16="http://schemas.microsoft.com/office/drawing/2014/main" id="{F5CDE9DB-1AFA-44BF-18C3-7488CE6DDBB5}"/>
              </a:ext>
            </a:extLst>
          </p:cNvPr>
          <p:cNvGraphicFramePr>
            <a:graphicFrameLocks/>
          </p:cNvGraphicFramePr>
          <p:nvPr>
            <p:extLst>
              <p:ext uri="{D42A27DB-BD31-4B8C-83A1-F6EECF244321}">
                <p14:modId xmlns:p14="http://schemas.microsoft.com/office/powerpoint/2010/main" val="4053440773"/>
              </p:ext>
            </p:extLst>
          </p:nvPr>
        </p:nvGraphicFramePr>
        <p:xfrm>
          <a:off x="6560508" y="2389118"/>
          <a:ext cx="5364014" cy="3731763"/>
        </p:xfrm>
        <a:graphic>
          <a:graphicData uri="http://schemas.openxmlformats.org/drawingml/2006/chart">
            <c:chart xmlns:c="http://schemas.openxmlformats.org/drawingml/2006/chart" xmlns:r="http://schemas.openxmlformats.org/officeDocument/2006/relationships" r:id="rId3"/>
          </a:graphicData>
        </a:graphic>
      </p:graphicFrame>
      <p:sp>
        <p:nvSpPr>
          <p:cNvPr id="2" name="Footer Placeholder 3">
            <a:extLst>
              <a:ext uri="{FF2B5EF4-FFF2-40B4-BE49-F238E27FC236}">
                <a16:creationId xmlns:a16="http://schemas.microsoft.com/office/drawing/2014/main" id="{B5A9FC94-C64C-736C-72E9-F65A7D958A66}"/>
              </a:ext>
            </a:extLst>
          </p:cNvPr>
          <p:cNvSpPr>
            <a:spLocks noGrp="1"/>
          </p:cNvSpPr>
          <p:nvPr>
            <p:ph type="ftr" sz="quarter" idx="11"/>
          </p:nvPr>
        </p:nvSpPr>
        <p:spPr>
          <a:xfrm>
            <a:off x="4038600" y="6356350"/>
            <a:ext cx="4114800" cy="365125"/>
          </a:xfrm>
        </p:spPr>
        <p:txBody>
          <a:bodyPr/>
          <a:lstStyle/>
          <a:p>
            <a:pPr>
              <a:spcAft>
                <a:spcPts val="600"/>
              </a:spcAft>
            </a:pPr>
            <a:r>
              <a:rPr lang="en-US" dirty="0"/>
              <a:t>Texas Tech University</a:t>
            </a:r>
          </a:p>
        </p:txBody>
      </p:sp>
    </p:spTree>
    <p:extLst>
      <p:ext uri="{BB962C8B-B14F-4D97-AF65-F5344CB8AC3E}">
        <p14:creationId xmlns:p14="http://schemas.microsoft.com/office/powerpoint/2010/main" val="3549319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58F65-D831-8CAF-31FF-6D9C0C66F05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36EEEC8-6184-FA05-530C-F42039C2A28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a:extLst>
              <a:ext uri="{FF2B5EF4-FFF2-40B4-BE49-F238E27FC236}">
                <a16:creationId xmlns:a16="http://schemas.microsoft.com/office/drawing/2014/main" id="{C1E35542-B249-99FF-FCF3-6B36173DB6A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a:extLst>
              <a:ext uri="{FF2B5EF4-FFF2-40B4-BE49-F238E27FC236}">
                <a16:creationId xmlns:a16="http://schemas.microsoft.com/office/drawing/2014/main" id="{2B131839-D5CD-4EC7-DD51-936441536EE2}"/>
              </a:ext>
            </a:extLst>
          </p:cNvPr>
          <p:cNvSpPr txBox="1"/>
          <p:nvPr/>
        </p:nvSpPr>
        <p:spPr>
          <a:xfrm>
            <a:off x="774442" y="699148"/>
            <a:ext cx="8453534" cy="523220"/>
          </a:xfrm>
          <a:prstGeom prst="rect">
            <a:avLst/>
          </a:prstGeom>
          <a:noFill/>
        </p:spPr>
        <p:txBody>
          <a:bodyPr wrap="square" rtlCol="0">
            <a:spAutoFit/>
          </a:bodyPr>
          <a:lstStyle/>
          <a:p>
            <a:r>
              <a:rPr lang="en-US" sz="2800" b="1" dirty="0"/>
              <a:t>Existing work vs Proposed work</a:t>
            </a:r>
          </a:p>
        </p:txBody>
      </p:sp>
      <p:sp>
        <p:nvSpPr>
          <p:cNvPr id="5" name="TextBox 4">
            <a:extLst>
              <a:ext uri="{FF2B5EF4-FFF2-40B4-BE49-F238E27FC236}">
                <a16:creationId xmlns:a16="http://schemas.microsoft.com/office/drawing/2014/main" id="{BE965333-B279-86C0-2961-32916D11990F}"/>
              </a:ext>
            </a:extLst>
          </p:cNvPr>
          <p:cNvSpPr txBox="1"/>
          <p:nvPr/>
        </p:nvSpPr>
        <p:spPr>
          <a:xfrm>
            <a:off x="779576" y="1716263"/>
            <a:ext cx="2817844" cy="369332"/>
          </a:xfrm>
          <a:prstGeom prst="rect">
            <a:avLst/>
          </a:prstGeom>
          <a:noFill/>
        </p:spPr>
        <p:txBody>
          <a:bodyPr wrap="square" rtlCol="0">
            <a:spAutoFit/>
          </a:bodyPr>
          <a:lstStyle/>
          <a:p>
            <a:pPr marL="285750" indent="-285750">
              <a:buFont typeface="Arial" panose="020B0604020202020204" pitchFamily="34" charset="0"/>
              <a:buChar char="•"/>
            </a:pPr>
            <a:r>
              <a:rPr lang="en-US" dirty="0"/>
              <a:t>UNSW_NB15 Dataset</a:t>
            </a:r>
          </a:p>
        </p:txBody>
      </p:sp>
      <p:sp>
        <p:nvSpPr>
          <p:cNvPr id="10" name="TextBox 9">
            <a:extLst>
              <a:ext uri="{FF2B5EF4-FFF2-40B4-BE49-F238E27FC236}">
                <a16:creationId xmlns:a16="http://schemas.microsoft.com/office/drawing/2014/main" id="{EC0C6203-B969-A0B8-F12E-21F3F0ECC63F}"/>
              </a:ext>
            </a:extLst>
          </p:cNvPr>
          <p:cNvSpPr txBox="1"/>
          <p:nvPr/>
        </p:nvSpPr>
        <p:spPr>
          <a:xfrm>
            <a:off x="6893017" y="1716263"/>
            <a:ext cx="2817844" cy="369332"/>
          </a:xfrm>
          <a:prstGeom prst="rect">
            <a:avLst/>
          </a:prstGeom>
          <a:noFill/>
        </p:spPr>
        <p:txBody>
          <a:bodyPr wrap="square" rtlCol="0">
            <a:spAutoFit/>
          </a:bodyPr>
          <a:lstStyle/>
          <a:p>
            <a:pPr marL="285750" indent="-285750">
              <a:buFont typeface="Arial" panose="020B0604020202020204" pitchFamily="34" charset="0"/>
              <a:buChar char="•"/>
            </a:pPr>
            <a:r>
              <a:rPr lang="en-US" dirty="0"/>
              <a:t>NSL-KDD Dataset</a:t>
            </a:r>
          </a:p>
        </p:txBody>
      </p:sp>
      <p:sp>
        <p:nvSpPr>
          <p:cNvPr id="17" name="Footer Placeholder 3">
            <a:extLst>
              <a:ext uri="{FF2B5EF4-FFF2-40B4-BE49-F238E27FC236}">
                <a16:creationId xmlns:a16="http://schemas.microsoft.com/office/drawing/2014/main" id="{FBC4EC89-26B4-07E2-C8D4-8151803363FB}"/>
              </a:ext>
            </a:extLst>
          </p:cNvPr>
          <p:cNvSpPr>
            <a:spLocks noGrp="1"/>
          </p:cNvSpPr>
          <p:nvPr>
            <p:ph type="ftr" sz="quarter" idx="11"/>
          </p:nvPr>
        </p:nvSpPr>
        <p:spPr>
          <a:xfrm>
            <a:off x="4038600" y="6356350"/>
            <a:ext cx="4114800" cy="365125"/>
          </a:xfrm>
        </p:spPr>
        <p:txBody>
          <a:bodyPr/>
          <a:lstStyle/>
          <a:p>
            <a:pPr>
              <a:spcAft>
                <a:spcPts val="600"/>
              </a:spcAft>
            </a:pPr>
            <a:r>
              <a:rPr lang="en-US" dirty="0"/>
              <a:t>Texas Tech University</a:t>
            </a:r>
          </a:p>
        </p:txBody>
      </p:sp>
      <p:pic>
        <p:nvPicPr>
          <p:cNvPr id="13" name="Picture 12">
            <a:extLst>
              <a:ext uri="{FF2B5EF4-FFF2-40B4-BE49-F238E27FC236}">
                <a16:creationId xmlns:a16="http://schemas.microsoft.com/office/drawing/2014/main" id="{4A988CE0-5BF3-284D-F0DC-DA6E120D5CD2}"/>
              </a:ext>
            </a:extLst>
          </p:cNvPr>
          <p:cNvPicPr>
            <a:picLocks noChangeAspect="1"/>
          </p:cNvPicPr>
          <p:nvPr/>
        </p:nvPicPr>
        <p:blipFill>
          <a:blip r:embed="rId2"/>
          <a:stretch>
            <a:fillRect/>
          </a:stretch>
        </p:blipFill>
        <p:spPr>
          <a:xfrm>
            <a:off x="685404" y="2579490"/>
            <a:ext cx="5184305" cy="2913806"/>
          </a:xfrm>
          <a:prstGeom prst="rect">
            <a:avLst/>
          </a:prstGeom>
        </p:spPr>
      </p:pic>
      <p:pic>
        <p:nvPicPr>
          <p:cNvPr id="15" name="Picture 14">
            <a:extLst>
              <a:ext uri="{FF2B5EF4-FFF2-40B4-BE49-F238E27FC236}">
                <a16:creationId xmlns:a16="http://schemas.microsoft.com/office/drawing/2014/main" id="{2046D089-B8D7-CEF2-9974-1DC68E7565FE}"/>
              </a:ext>
            </a:extLst>
          </p:cNvPr>
          <p:cNvPicPr>
            <a:picLocks noChangeAspect="1"/>
          </p:cNvPicPr>
          <p:nvPr/>
        </p:nvPicPr>
        <p:blipFill>
          <a:blip r:embed="rId3"/>
          <a:srcRect t="1753"/>
          <a:stretch>
            <a:fillRect/>
          </a:stretch>
        </p:blipFill>
        <p:spPr>
          <a:xfrm>
            <a:off x="6395900" y="2579490"/>
            <a:ext cx="5225441" cy="2913807"/>
          </a:xfrm>
          <a:prstGeom prst="rect">
            <a:avLst/>
          </a:prstGeom>
        </p:spPr>
      </p:pic>
    </p:spTree>
    <p:extLst>
      <p:ext uri="{BB962C8B-B14F-4D97-AF65-F5344CB8AC3E}">
        <p14:creationId xmlns:p14="http://schemas.microsoft.com/office/powerpoint/2010/main" val="3257517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4D7880B-D60C-7A14-DFDE-3C74C4F1DAE2}"/>
              </a:ext>
            </a:extLst>
          </p:cNvPr>
          <p:cNvSpPr>
            <a:spLocks noGrp="1"/>
          </p:cNvSpPr>
          <p:nvPr>
            <p:ph type="title"/>
          </p:nvPr>
        </p:nvSpPr>
        <p:spPr>
          <a:xfrm>
            <a:off x="1222086" y="2864482"/>
            <a:ext cx="2895600" cy="1930802"/>
          </a:xfrm>
        </p:spPr>
        <p:txBody>
          <a:bodyPr anchor="b">
            <a:normAutofit/>
          </a:bodyPr>
          <a:lstStyle/>
          <a:p>
            <a:r>
              <a:rPr lang="en-IN" b="1" dirty="0"/>
              <a:t>THANK YOU</a:t>
            </a:r>
          </a:p>
        </p:txBody>
      </p:sp>
      <p:sp>
        <p:nvSpPr>
          <p:cNvPr id="2" name="Footer Placeholder 3">
            <a:extLst>
              <a:ext uri="{FF2B5EF4-FFF2-40B4-BE49-F238E27FC236}">
                <a16:creationId xmlns:a16="http://schemas.microsoft.com/office/drawing/2014/main" id="{D394CD1C-328B-5B6A-EF6F-D564596F19C2}"/>
              </a:ext>
            </a:extLst>
          </p:cNvPr>
          <p:cNvSpPr>
            <a:spLocks noGrp="1"/>
          </p:cNvSpPr>
          <p:nvPr>
            <p:ph type="ftr" sz="quarter" idx="11"/>
          </p:nvPr>
        </p:nvSpPr>
        <p:spPr>
          <a:xfrm>
            <a:off x="2669886" y="6356349"/>
            <a:ext cx="2482842" cy="365125"/>
          </a:xfrm>
        </p:spPr>
        <p:txBody>
          <a:bodyPr anchor="ctr">
            <a:normAutofit/>
          </a:bodyPr>
          <a:lstStyle/>
          <a:p>
            <a:pPr>
              <a:spcAft>
                <a:spcPts val="600"/>
              </a:spcAft>
            </a:pPr>
            <a:r>
              <a:rPr lang="en-US" dirty="0"/>
              <a:t>Texas Tech University</a:t>
            </a:r>
          </a:p>
        </p:txBody>
      </p:sp>
      <p:sp>
        <p:nvSpPr>
          <p:cNvPr id="13" name="Slide Number Placeholder 4">
            <a:extLst>
              <a:ext uri="{FF2B5EF4-FFF2-40B4-BE49-F238E27FC236}">
                <a16:creationId xmlns:a16="http://schemas.microsoft.com/office/drawing/2014/main" id="{7C4921AF-BBC7-EEB5-EFBD-5965784F741F}"/>
              </a:ext>
            </a:extLst>
          </p:cNvPr>
          <p:cNvSpPr>
            <a:spLocks noGrp="1"/>
          </p:cNvSpPr>
          <p:nvPr>
            <p:ph type="sldNum" sz="quarter" idx="12"/>
          </p:nvPr>
        </p:nvSpPr>
        <p:spPr>
          <a:xfrm>
            <a:off x="5536305" y="6356350"/>
            <a:ext cx="987552" cy="365125"/>
          </a:xfrm>
        </p:spPr>
        <p:txBody>
          <a:bodyPr/>
          <a:lstStyle/>
          <a:p>
            <a:pPr>
              <a:spcAft>
                <a:spcPts val="600"/>
              </a:spcAft>
            </a:pPr>
            <a:fld id="{A49DFD55-3C28-40EF-9E31-A92D2E4017FF}" type="slidenum">
              <a:rPr lang="en-US" smtClean="0"/>
              <a:pPr>
                <a:spcAft>
                  <a:spcPts val="600"/>
                </a:spcAft>
              </a:pPr>
              <a:t>13</a:t>
            </a:fld>
            <a:endParaRPr lang="en-US"/>
          </a:p>
        </p:txBody>
      </p:sp>
    </p:spTree>
    <p:extLst>
      <p:ext uri="{BB962C8B-B14F-4D97-AF65-F5344CB8AC3E}">
        <p14:creationId xmlns:p14="http://schemas.microsoft.com/office/powerpoint/2010/main" val="3854274732"/>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imalist presentation_Win32_SL_V2" id="{0E60AB4E-417B-45C1-9301-1C9D3943EB7F}" vid="{199B3929-907A-4692-88BF-6063DC9760F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5CEF65-757A-4D05-90BA-ED40BC2E515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518A5EB6-E9B8-417D-B09E-03811FBC9BCD}">
  <ds:schemaRefs>
    <ds:schemaRef ds:uri="http://schemas.microsoft.com/sharepoint/v3/contenttype/forms"/>
  </ds:schemaRefs>
</ds:datastoreItem>
</file>

<file path=customXml/itemProps3.xml><?xml version="1.0" encoding="utf-8"?>
<ds:datastoreItem xmlns:ds="http://schemas.openxmlformats.org/officeDocument/2006/customXml" ds:itemID="{EAB34632-EE39-4722-B8A6-C2A6B86CC8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1057</Words>
  <Application>Microsoft Office PowerPoint</Application>
  <PresentationFormat>Widescreen</PresentationFormat>
  <Paragraphs>91</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Tenorite</vt:lpstr>
      <vt:lpstr>Times New Roman</vt:lpstr>
      <vt:lpstr>Custom</vt:lpstr>
      <vt:lpstr>PowerPoint Presentation</vt:lpstr>
      <vt:lpstr>PowerPoint Presentation</vt:lpstr>
      <vt:lpstr>Project Definition What is Network Intrusion Detection System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2023-09-05T22:33:03Z</dcterms:created>
  <dcterms:modified xsi:type="dcterms:W3CDTF">2026-04-24T23:48:27Z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